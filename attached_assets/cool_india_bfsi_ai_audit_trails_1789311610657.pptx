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6FC"/>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1B8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384048"/>
            <a:ext cx="502920" cy="384048"/>
          </a:xfrm>
          <a:prstGeom prst="rect">
            <a:avLst/>
          </a:prstGeom>
          <a:noFill/>
        </p:spPr>
        <p:txBody>
          <a:bodyPr wrap="square" lIns="50800" rIns="50800" tIns="25400" bIns="25400">
            <a:spAutoFit/>
          </a:bodyPr>
          <a:lstStyle/>
          <a:p>
            <a:pPr algn="l"/>
            <a:r>
              <a:rPr sz="1400" b="1">
                <a:solidFill>
                  <a:srgbClr val="21B8D1"/>
                </a:solidFill>
                <a:latin typeface="Aptos"/>
              </a:rPr>
              <a:t>01</a:t>
            </a:r>
          </a:p>
        </p:txBody>
      </p:sp>
      <p:sp>
        <p:nvSpPr>
          <p:cNvPr id="4" name="TextBox 3"/>
          <p:cNvSpPr txBox="1"/>
          <p:nvPr/>
        </p:nvSpPr>
        <p:spPr>
          <a:xfrm>
            <a:off x="960120" y="310896"/>
            <a:ext cx="10789920" cy="502920"/>
          </a:xfrm>
          <a:prstGeom prst="rect">
            <a:avLst/>
          </a:prstGeom>
          <a:noFill/>
        </p:spPr>
        <p:txBody>
          <a:bodyPr wrap="square" lIns="50800" rIns="50800" tIns="25400" bIns="25400">
            <a:spAutoFit/>
          </a:bodyPr>
          <a:lstStyle/>
          <a:p>
            <a:pPr algn="l"/>
            <a:r>
              <a:rPr sz="2800" b="1">
                <a:solidFill>
                  <a:srgbClr val="09152D"/>
                </a:solidFill>
                <a:latin typeface="Aptos"/>
              </a:rPr>
              <a:t>India’s AI Audit-Trail Gap</a:t>
            </a:r>
          </a:p>
        </p:txBody>
      </p:sp>
      <p:sp>
        <p:nvSpPr>
          <p:cNvPr id="5" name="TextBox 4"/>
          <p:cNvSpPr txBox="1"/>
          <p:nvPr/>
        </p:nvSpPr>
        <p:spPr>
          <a:xfrm>
            <a:off x="978408" y="850392"/>
            <a:ext cx="10607040" cy="301752"/>
          </a:xfrm>
          <a:prstGeom prst="rect">
            <a:avLst/>
          </a:prstGeom>
          <a:noFill/>
        </p:spPr>
        <p:txBody>
          <a:bodyPr wrap="square" lIns="50800" rIns="50800" tIns="25400" bIns="25400">
            <a:spAutoFit/>
          </a:bodyPr>
          <a:lstStyle/>
          <a:p>
            <a:pPr algn="l"/>
            <a:r>
              <a:rPr sz="1100" b="0">
                <a:solidFill>
                  <a:srgbClr val="637184"/>
                </a:solidFill>
                <a:latin typeface="Aptos"/>
              </a:rPr>
              <a:t>Banks, brokers and NBFCs need defensible records of AI changes and automated decisions.</a:t>
            </a:r>
          </a:p>
        </p:txBody>
      </p:sp>
      <p:sp>
        <p:nvSpPr>
          <p:cNvPr id="6" name="Rounded Rectangle 5"/>
          <p:cNvSpPr/>
          <p:nvPr/>
        </p:nvSpPr>
        <p:spPr>
          <a:xfrm>
            <a:off x="502920" y="1298448"/>
            <a:ext cx="11155680" cy="914400"/>
          </a:xfrm>
          <a:prstGeom prst="roundRect">
            <a:avLst/>
          </a:prstGeom>
          <a:solidFill>
            <a:srgbClr val="09152D"/>
          </a:solidFill>
          <a:ln>
            <a:solidFill>
              <a:srgbClr val="091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17904"/>
            <a:ext cx="10607040" cy="475488"/>
          </a:xfrm>
          <a:prstGeom prst="rect">
            <a:avLst/>
          </a:prstGeom>
          <a:noFill/>
        </p:spPr>
        <p:txBody>
          <a:bodyPr wrap="square" lIns="50800" rIns="50800" tIns="25400" bIns="25400">
            <a:spAutoFit/>
          </a:bodyPr>
          <a:lstStyle/>
          <a:p>
            <a:pPr algn="ctr"/>
            <a:r>
              <a:rPr sz="1700" b="1">
                <a:solidFill>
                  <a:srgbClr val="FFFFFF"/>
                </a:solidFill>
                <a:latin typeface="Aptos"/>
              </a:rPr>
              <a:t>The core problem: AI is increasingly making or influencing financial decisions, but firms cannot easily prove what changed, who approved it, or whether the historical record was altered.</a:t>
            </a:r>
          </a:p>
        </p:txBody>
      </p:sp>
      <p:sp>
        <p:nvSpPr>
          <p:cNvPr id="8" name="Rounded Rectangle 7"/>
          <p:cNvSpPr/>
          <p:nvPr/>
        </p:nvSpPr>
        <p:spPr>
          <a:xfrm>
            <a:off x="502920" y="2514600"/>
            <a:ext cx="3520440" cy="333756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514600"/>
            <a:ext cx="3520440" cy="91440"/>
          </a:xfrm>
          <a:prstGeom prst="rect">
            <a:avLst/>
          </a:prstGeom>
          <a:solidFill>
            <a:srgbClr val="21B8D1"/>
          </a:solidFill>
          <a:ln>
            <a:solidFill>
              <a:srgbClr val="21B8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679192"/>
            <a:ext cx="3191256" cy="292608"/>
          </a:xfrm>
          <a:prstGeom prst="rect">
            <a:avLst/>
          </a:prstGeom>
          <a:noFill/>
        </p:spPr>
        <p:txBody>
          <a:bodyPr wrap="square" lIns="50800" rIns="50800" tIns="25400" bIns="25400">
            <a:spAutoFit/>
          </a:bodyPr>
          <a:lstStyle/>
          <a:p>
            <a:pPr algn="l"/>
            <a:r>
              <a:rPr sz="1500" b="1">
                <a:solidFill>
                  <a:srgbClr val="09152D"/>
                </a:solidFill>
                <a:latin typeface="Aptos"/>
              </a:rPr>
              <a:t>Where AI is used</a:t>
            </a:r>
          </a:p>
        </p:txBody>
      </p:sp>
      <p:sp>
        <p:nvSpPr>
          <p:cNvPr id="11" name="TextBox 10"/>
          <p:cNvSpPr txBox="1"/>
          <p:nvPr/>
        </p:nvSpPr>
        <p:spPr>
          <a:xfrm>
            <a:off x="667512" y="3044952"/>
            <a:ext cx="146304" cy="228600"/>
          </a:xfrm>
          <a:prstGeom prst="rect">
            <a:avLst/>
          </a:prstGeom>
          <a:noFill/>
        </p:spPr>
        <p:txBody>
          <a:bodyPr wrap="square" lIns="50800" rIns="50800" tIns="25400" bIns="25400">
            <a:spAutoFit/>
          </a:bodyPr>
          <a:lstStyle/>
          <a:p>
            <a:pPr algn="l"/>
            <a:r>
              <a:rPr sz="1500" b="1">
                <a:solidFill>
                  <a:srgbClr val="21B8D1"/>
                </a:solidFill>
                <a:latin typeface="Aptos"/>
              </a:rPr>
              <a:t>•</a:t>
            </a:r>
          </a:p>
        </p:txBody>
      </p:sp>
      <p:sp>
        <p:nvSpPr>
          <p:cNvPr id="12" name="TextBox 11"/>
          <p:cNvSpPr txBox="1"/>
          <p:nvPr/>
        </p:nvSpPr>
        <p:spPr>
          <a:xfrm>
            <a:off x="859536" y="3044952"/>
            <a:ext cx="3008376" cy="429768"/>
          </a:xfrm>
          <a:prstGeom prst="rect">
            <a:avLst/>
          </a:prstGeom>
          <a:noFill/>
        </p:spPr>
        <p:txBody>
          <a:bodyPr wrap="square" lIns="50800" rIns="50800" tIns="25400" bIns="25400">
            <a:spAutoFit/>
          </a:bodyPr>
          <a:lstStyle/>
          <a:p>
            <a:pPr algn="l"/>
            <a:r>
              <a:rPr sz="1100" b="0">
                <a:solidFill>
                  <a:srgbClr val="243044"/>
                </a:solidFill>
                <a:latin typeface="Aptos"/>
              </a:rPr>
              <a:t>Credit scoring and loan eligibility</a:t>
            </a:r>
          </a:p>
        </p:txBody>
      </p:sp>
      <p:sp>
        <p:nvSpPr>
          <p:cNvPr id="13" name="TextBox 12"/>
          <p:cNvSpPr txBox="1"/>
          <p:nvPr/>
        </p:nvSpPr>
        <p:spPr>
          <a:xfrm>
            <a:off x="667512" y="3547872"/>
            <a:ext cx="146304" cy="228600"/>
          </a:xfrm>
          <a:prstGeom prst="rect">
            <a:avLst/>
          </a:prstGeom>
          <a:noFill/>
        </p:spPr>
        <p:txBody>
          <a:bodyPr wrap="square" lIns="50800" rIns="50800" tIns="25400" bIns="25400">
            <a:spAutoFit/>
          </a:bodyPr>
          <a:lstStyle/>
          <a:p>
            <a:pPr algn="l"/>
            <a:r>
              <a:rPr sz="1500" b="1">
                <a:solidFill>
                  <a:srgbClr val="21B8D1"/>
                </a:solidFill>
                <a:latin typeface="Aptos"/>
              </a:rPr>
              <a:t>•</a:t>
            </a:r>
          </a:p>
        </p:txBody>
      </p:sp>
      <p:sp>
        <p:nvSpPr>
          <p:cNvPr id="14" name="TextBox 13"/>
          <p:cNvSpPr txBox="1"/>
          <p:nvPr/>
        </p:nvSpPr>
        <p:spPr>
          <a:xfrm>
            <a:off x="859536" y="3547872"/>
            <a:ext cx="3008376" cy="429768"/>
          </a:xfrm>
          <a:prstGeom prst="rect">
            <a:avLst/>
          </a:prstGeom>
          <a:noFill/>
        </p:spPr>
        <p:txBody>
          <a:bodyPr wrap="square" lIns="50800" rIns="50800" tIns="25400" bIns="25400">
            <a:spAutoFit/>
          </a:bodyPr>
          <a:lstStyle/>
          <a:p>
            <a:pPr algn="l"/>
            <a:r>
              <a:rPr sz="1100" b="0">
                <a:solidFill>
                  <a:srgbClr val="243044"/>
                </a:solidFill>
                <a:latin typeface="Aptos"/>
              </a:rPr>
              <a:t>Fraud detection and payment-risk scoring</a:t>
            </a:r>
          </a:p>
        </p:txBody>
      </p:sp>
      <p:sp>
        <p:nvSpPr>
          <p:cNvPr id="15" name="TextBox 14"/>
          <p:cNvSpPr txBox="1"/>
          <p:nvPr/>
        </p:nvSpPr>
        <p:spPr>
          <a:xfrm>
            <a:off x="667512" y="4050791"/>
            <a:ext cx="146304" cy="228600"/>
          </a:xfrm>
          <a:prstGeom prst="rect">
            <a:avLst/>
          </a:prstGeom>
          <a:noFill/>
        </p:spPr>
        <p:txBody>
          <a:bodyPr wrap="square" lIns="50800" rIns="50800" tIns="25400" bIns="25400">
            <a:spAutoFit/>
          </a:bodyPr>
          <a:lstStyle/>
          <a:p>
            <a:pPr algn="l"/>
            <a:r>
              <a:rPr sz="1500" b="1">
                <a:solidFill>
                  <a:srgbClr val="21B8D1"/>
                </a:solidFill>
                <a:latin typeface="Aptos"/>
              </a:rPr>
              <a:t>•</a:t>
            </a:r>
          </a:p>
        </p:txBody>
      </p:sp>
      <p:sp>
        <p:nvSpPr>
          <p:cNvPr id="16" name="TextBox 15"/>
          <p:cNvSpPr txBox="1"/>
          <p:nvPr/>
        </p:nvSpPr>
        <p:spPr>
          <a:xfrm>
            <a:off x="859536" y="4050791"/>
            <a:ext cx="3008376" cy="429768"/>
          </a:xfrm>
          <a:prstGeom prst="rect">
            <a:avLst/>
          </a:prstGeom>
          <a:noFill/>
        </p:spPr>
        <p:txBody>
          <a:bodyPr wrap="square" lIns="50800" rIns="50800" tIns="25400" bIns="25400">
            <a:spAutoFit/>
          </a:bodyPr>
          <a:lstStyle/>
          <a:p>
            <a:pPr algn="l"/>
            <a:r>
              <a:rPr sz="1100" b="0">
                <a:solidFill>
                  <a:srgbClr val="243044"/>
                </a:solidFill>
                <a:latin typeface="Aptos"/>
              </a:rPr>
              <a:t>Customer-service and collections agents</a:t>
            </a:r>
          </a:p>
        </p:txBody>
      </p:sp>
      <p:sp>
        <p:nvSpPr>
          <p:cNvPr id="17" name="TextBox 16"/>
          <p:cNvSpPr txBox="1"/>
          <p:nvPr/>
        </p:nvSpPr>
        <p:spPr>
          <a:xfrm>
            <a:off x="667512" y="4553712"/>
            <a:ext cx="146304" cy="228600"/>
          </a:xfrm>
          <a:prstGeom prst="rect">
            <a:avLst/>
          </a:prstGeom>
          <a:noFill/>
        </p:spPr>
        <p:txBody>
          <a:bodyPr wrap="square" lIns="50800" rIns="50800" tIns="25400" bIns="25400">
            <a:spAutoFit/>
          </a:bodyPr>
          <a:lstStyle/>
          <a:p>
            <a:pPr algn="l"/>
            <a:r>
              <a:rPr sz="1500" b="1">
                <a:solidFill>
                  <a:srgbClr val="21B8D1"/>
                </a:solidFill>
                <a:latin typeface="Aptos"/>
              </a:rPr>
              <a:t>•</a:t>
            </a:r>
          </a:p>
        </p:txBody>
      </p:sp>
      <p:sp>
        <p:nvSpPr>
          <p:cNvPr id="18" name="TextBox 17"/>
          <p:cNvSpPr txBox="1"/>
          <p:nvPr/>
        </p:nvSpPr>
        <p:spPr>
          <a:xfrm>
            <a:off x="859536" y="4553712"/>
            <a:ext cx="3008376" cy="429768"/>
          </a:xfrm>
          <a:prstGeom prst="rect">
            <a:avLst/>
          </a:prstGeom>
          <a:noFill/>
        </p:spPr>
        <p:txBody>
          <a:bodyPr wrap="square" lIns="50800" rIns="50800" tIns="25400" bIns="25400">
            <a:spAutoFit/>
          </a:bodyPr>
          <a:lstStyle/>
          <a:p>
            <a:pPr algn="l"/>
            <a:r>
              <a:rPr sz="1100" b="0">
                <a:solidFill>
                  <a:srgbClr val="243044"/>
                </a:solidFill>
                <a:latin typeface="Aptos"/>
              </a:rPr>
              <a:t>Retail algorithmic trading</a:t>
            </a:r>
          </a:p>
        </p:txBody>
      </p:sp>
      <p:sp>
        <p:nvSpPr>
          <p:cNvPr id="19" name="Rounded Rectangle 18"/>
          <p:cNvSpPr/>
          <p:nvPr/>
        </p:nvSpPr>
        <p:spPr>
          <a:xfrm>
            <a:off x="4343400" y="2514600"/>
            <a:ext cx="3520440" cy="333756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43400" y="2514600"/>
            <a:ext cx="3520440" cy="91440"/>
          </a:xfrm>
          <a:prstGeom prst="rect">
            <a:avLst/>
          </a:prstGeom>
          <a:solidFill>
            <a:srgbClr val="EE8D37"/>
          </a:solidFill>
          <a:ln>
            <a:solidFill>
              <a:srgbClr val="EE8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07992" y="2679192"/>
            <a:ext cx="3191256" cy="292608"/>
          </a:xfrm>
          <a:prstGeom prst="rect">
            <a:avLst/>
          </a:prstGeom>
          <a:noFill/>
        </p:spPr>
        <p:txBody>
          <a:bodyPr wrap="square" lIns="50800" rIns="50800" tIns="25400" bIns="25400">
            <a:spAutoFit/>
          </a:bodyPr>
          <a:lstStyle/>
          <a:p>
            <a:pPr algn="l"/>
            <a:r>
              <a:rPr sz="1500" b="1">
                <a:solidFill>
                  <a:srgbClr val="09152D"/>
                </a:solidFill>
                <a:latin typeface="Aptos"/>
              </a:rPr>
              <a:t>Why normal logs fail</a:t>
            </a:r>
          </a:p>
        </p:txBody>
      </p:sp>
      <p:sp>
        <p:nvSpPr>
          <p:cNvPr id="22" name="TextBox 21"/>
          <p:cNvSpPr txBox="1"/>
          <p:nvPr/>
        </p:nvSpPr>
        <p:spPr>
          <a:xfrm>
            <a:off x="4507992" y="3044952"/>
            <a:ext cx="146304" cy="228600"/>
          </a:xfrm>
          <a:prstGeom prst="rect">
            <a:avLst/>
          </a:prstGeom>
          <a:noFill/>
        </p:spPr>
        <p:txBody>
          <a:bodyPr wrap="square" lIns="50800" rIns="50800" tIns="25400" bIns="25400">
            <a:spAutoFit/>
          </a:bodyPr>
          <a:lstStyle/>
          <a:p>
            <a:pPr algn="l"/>
            <a:r>
              <a:rPr sz="1500" b="1">
                <a:solidFill>
                  <a:srgbClr val="EE8D37"/>
                </a:solidFill>
                <a:latin typeface="Aptos"/>
              </a:rPr>
              <a:t>•</a:t>
            </a:r>
          </a:p>
        </p:txBody>
      </p:sp>
      <p:sp>
        <p:nvSpPr>
          <p:cNvPr id="23" name="TextBox 22"/>
          <p:cNvSpPr txBox="1"/>
          <p:nvPr/>
        </p:nvSpPr>
        <p:spPr>
          <a:xfrm>
            <a:off x="4700016" y="3044952"/>
            <a:ext cx="3008376" cy="429768"/>
          </a:xfrm>
          <a:prstGeom prst="rect">
            <a:avLst/>
          </a:prstGeom>
          <a:noFill/>
        </p:spPr>
        <p:txBody>
          <a:bodyPr wrap="square" lIns="50800" rIns="50800" tIns="25400" bIns="25400">
            <a:spAutoFit/>
          </a:bodyPr>
          <a:lstStyle/>
          <a:p>
            <a:pPr algn="l"/>
            <a:r>
              <a:rPr sz="1100" b="0">
                <a:solidFill>
                  <a:srgbClr val="243044"/>
                </a:solidFill>
                <a:latin typeface="Aptos"/>
              </a:rPr>
              <a:t>Excel, tickets and databases can be edited</a:t>
            </a:r>
          </a:p>
        </p:txBody>
      </p:sp>
      <p:sp>
        <p:nvSpPr>
          <p:cNvPr id="24" name="TextBox 23"/>
          <p:cNvSpPr txBox="1"/>
          <p:nvPr/>
        </p:nvSpPr>
        <p:spPr>
          <a:xfrm>
            <a:off x="4507992" y="3547872"/>
            <a:ext cx="146304" cy="228600"/>
          </a:xfrm>
          <a:prstGeom prst="rect">
            <a:avLst/>
          </a:prstGeom>
          <a:noFill/>
        </p:spPr>
        <p:txBody>
          <a:bodyPr wrap="square" lIns="50800" rIns="50800" tIns="25400" bIns="25400">
            <a:spAutoFit/>
          </a:bodyPr>
          <a:lstStyle/>
          <a:p>
            <a:pPr algn="l"/>
            <a:r>
              <a:rPr sz="1500" b="1">
                <a:solidFill>
                  <a:srgbClr val="EE8D37"/>
                </a:solidFill>
                <a:latin typeface="Aptos"/>
              </a:rPr>
              <a:t>•</a:t>
            </a:r>
          </a:p>
        </p:txBody>
      </p:sp>
      <p:sp>
        <p:nvSpPr>
          <p:cNvPr id="25" name="TextBox 24"/>
          <p:cNvSpPr txBox="1"/>
          <p:nvPr/>
        </p:nvSpPr>
        <p:spPr>
          <a:xfrm>
            <a:off x="4700016" y="3547872"/>
            <a:ext cx="3008376" cy="429768"/>
          </a:xfrm>
          <a:prstGeom prst="rect">
            <a:avLst/>
          </a:prstGeom>
          <a:noFill/>
        </p:spPr>
        <p:txBody>
          <a:bodyPr wrap="square" lIns="50800" rIns="50800" tIns="25400" bIns="25400">
            <a:spAutoFit/>
          </a:bodyPr>
          <a:lstStyle/>
          <a:p>
            <a:pPr algn="l"/>
            <a:r>
              <a:rPr sz="1100" b="0">
                <a:solidFill>
                  <a:srgbClr val="243044"/>
                </a:solidFill>
                <a:latin typeface="Aptos"/>
              </a:rPr>
              <a:t>Evidence is scattered across teams and vendors</a:t>
            </a:r>
          </a:p>
        </p:txBody>
      </p:sp>
      <p:sp>
        <p:nvSpPr>
          <p:cNvPr id="26" name="TextBox 25"/>
          <p:cNvSpPr txBox="1"/>
          <p:nvPr/>
        </p:nvSpPr>
        <p:spPr>
          <a:xfrm>
            <a:off x="4507992" y="4050791"/>
            <a:ext cx="146304" cy="228600"/>
          </a:xfrm>
          <a:prstGeom prst="rect">
            <a:avLst/>
          </a:prstGeom>
          <a:noFill/>
        </p:spPr>
        <p:txBody>
          <a:bodyPr wrap="square" lIns="50800" rIns="50800" tIns="25400" bIns="25400">
            <a:spAutoFit/>
          </a:bodyPr>
          <a:lstStyle/>
          <a:p>
            <a:pPr algn="l"/>
            <a:r>
              <a:rPr sz="1500" b="1">
                <a:solidFill>
                  <a:srgbClr val="EE8D37"/>
                </a:solidFill>
                <a:latin typeface="Aptos"/>
              </a:rPr>
              <a:t>•</a:t>
            </a:r>
          </a:p>
        </p:txBody>
      </p:sp>
      <p:sp>
        <p:nvSpPr>
          <p:cNvPr id="27" name="TextBox 26"/>
          <p:cNvSpPr txBox="1"/>
          <p:nvPr/>
        </p:nvSpPr>
        <p:spPr>
          <a:xfrm>
            <a:off x="4700016" y="4050791"/>
            <a:ext cx="3008376" cy="429768"/>
          </a:xfrm>
          <a:prstGeom prst="rect">
            <a:avLst/>
          </a:prstGeom>
          <a:noFill/>
        </p:spPr>
        <p:txBody>
          <a:bodyPr wrap="square" lIns="50800" rIns="50800" tIns="25400" bIns="25400">
            <a:spAutoFit/>
          </a:bodyPr>
          <a:lstStyle/>
          <a:p>
            <a:pPr algn="l"/>
            <a:r>
              <a:rPr sz="1100" b="0">
                <a:solidFill>
                  <a:srgbClr val="243044"/>
                </a:solidFill>
                <a:latin typeface="Aptos"/>
              </a:rPr>
              <a:t>Manual reconstruction is slow during an inspection</a:t>
            </a:r>
          </a:p>
        </p:txBody>
      </p:sp>
      <p:sp>
        <p:nvSpPr>
          <p:cNvPr id="28" name="TextBox 27"/>
          <p:cNvSpPr txBox="1"/>
          <p:nvPr/>
        </p:nvSpPr>
        <p:spPr>
          <a:xfrm>
            <a:off x="4507992" y="4553712"/>
            <a:ext cx="146304" cy="228600"/>
          </a:xfrm>
          <a:prstGeom prst="rect">
            <a:avLst/>
          </a:prstGeom>
          <a:noFill/>
        </p:spPr>
        <p:txBody>
          <a:bodyPr wrap="square" lIns="50800" rIns="50800" tIns="25400" bIns="25400">
            <a:spAutoFit/>
          </a:bodyPr>
          <a:lstStyle/>
          <a:p>
            <a:pPr algn="l"/>
            <a:r>
              <a:rPr sz="1500" b="1">
                <a:solidFill>
                  <a:srgbClr val="EE8D37"/>
                </a:solidFill>
                <a:latin typeface="Aptos"/>
              </a:rPr>
              <a:t>•</a:t>
            </a:r>
          </a:p>
        </p:txBody>
      </p:sp>
      <p:sp>
        <p:nvSpPr>
          <p:cNvPr id="29" name="TextBox 28"/>
          <p:cNvSpPr txBox="1"/>
          <p:nvPr/>
        </p:nvSpPr>
        <p:spPr>
          <a:xfrm>
            <a:off x="4700016" y="4553712"/>
            <a:ext cx="3008376" cy="429768"/>
          </a:xfrm>
          <a:prstGeom prst="rect">
            <a:avLst/>
          </a:prstGeom>
          <a:noFill/>
        </p:spPr>
        <p:txBody>
          <a:bodyPr wrap="square" lIns="50800" rIns="50800" tIns="25400" bIns="25400">
            <a:spAutoFit/>
          </a:bodyPr>
          <a:lstStyle/>
          <a:p>
            <a:pPr algn="l"/>
            <a:r>
              <a:rPr sz="1100" b="0">
                <a:solidFill>
                  <a:srgbClr val="243044"/>
                </a:solidFill>
                <a:latin typeface="Aptos"/>
              </a:rPr>
              <a:t>It is hard to independently validate history</a:t>
            </a:r>
          </a:p>
        </p:txBody>
      </p:sp>
      <p:sp>
        <p:nvSpPr>
          <p:cNvPr id="30" name="Rounded Rectangle 29"/>
          <p:cNvSpPr/>
          <p:nvPr/>
        </p:nvSpPr>
        <p:spPr>
          <a:xfrm>
            <a:off x="8183879" y="2514600"/>
            <a:ext cx="3520440" cy="333756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83879" y="2514600"/>
            <a:ext cx="3520440" cy="91440"/>
          </a:xfrm>
          <a:prstGeom prst="rect">
            <a:avLst/>
          </a:prstGeom>
          <a:solidFill>
            <a:srgbClr val="D5434D"/>
          </a:solidFill>
          <a:ln>
            <a:solidFill>
              <a:srgbClr val="D54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48471" y="2679192"/>
            <a:ext cx="3191256" cy="292608"/>
          </a:xfrm>
          <a:prstGeom prst="rect">
            <a:avLst/>
          </a:prstGeom>
          <a:noFill/>
        </p:spPr>
        <p:txBody>
          <a:bodyPr wrap="square" lIns="50800" rIns="50800" tIns="25400" bIns="25400">
            <a:spAutoFit/>
          </a:bodyPr>
          <a:lstStyle/>
          <a:p>
            <a:pPr algn="l"/>
            <a:r>
              <a:rPr sz="1500" b="1">
                <a:solidFill>
                  <a:srgbClr val="09152D"/>
                </a:solidFill>
                <a:latin typeface="Aptos"/>
              </a:rPr>
              <a:t>Why it is urgent</a:t>
            </a:r>
          </a:p>
        </p:txBody>
      </p:sp>
      <p:sp>
        <p:nvSpPr>
          <p:cNvPr id="33" name="TextBox 32"/>
          <p:cNvSpPr txBox="1"/>
          <p:nvPr/>
        </p:nvSpPr>
        <p:spPr>
          <a:xfrm>
            <a:off x="8348471" y="3044952"/>
            <a:ext cx="146304" cy="228600"/>
          </a:xfrm>
          <a:prstGeom prst="rect">
            <a:avLst/>
          </a:prstGeom>
          <a:noFill/>
        </p:spPr>
        <p:txBody>
          <a:bodyPr wrap="square" lIns="50800" rIns="50800" tIns="25400" bIns="25400">
            <a:spAutoFit/>
          </a:bodyPr>
          <a:lstStyle/>
          <a:p>
            <a:pPr algn="l"/>
            <a:r>
              <a:rPr sz="1500" b="1">
                <a:solidFill>
                  <a:srgbClr val="D5434D"/>
                </a:solidFill>
                <a:latin typeface="Aptos"/>
              </a:rPr>
              <a:t>•</a:t>
            </a:r>
          </a:p>
        </p:txBody>
      </p:sp>
      <p:sp>
        <p:nvSpPr>
          <p:cNvPr id="34" name="TextBox 33"/>
          <p:cNvSpPr txBox="1"/>
          <p:nvPr/>
        </p:nvSpPr>
        <p:spPr>
          <a:xfrm>
            <a:off x="8540496" y="3044952"/>
            <a:ext cx="3008376" cy="429768"/>
          </a:xfrm>
          <a:prstGeom prst="rect">
            <a:avLst/>
          </a:prstGeom>
          <a:noFill/>
        </p:spPr>
        <p:txBody>
          <a:bodyPr wrap="square" lIns="50800" rIns="50800" tIns="25400" bIns="25400">
            <a:spAutoFit/>
          </a:bodyPr>
          <a:lstStyle/>
          <a:p>
            <a:pPr algn="l"/>
            <a:r>
              <a:rPr sz="1100" b="0">
                <a:solidFill>
                  <a:srgbClr val="243044"/>
                </a:solidFill>
                <a:latin typeface="Aptos"/>
              </a:rPr>
              <a:t>RBI’s June 2026 draft elevates model governance</a:t>
            </a:r>
          </a:p>
        </p:txBody>
      </p:sp>
      <p:sp>
        <p:nvSpPr>
          <p:cNvPr id="35" name="TextBox 34"/>
          <p:cNvSpPr txBox="1"/>
          <p:nvPr/>
        </p:nvSpPr>
        <p:spPr>
          <a:xfrm>
            <a:off x="8348471" y="3547872"/>
            <a:ext cx="146304" cy="228600"/>
          </a:xfrm>
          <a:prstGeom prst="rect">
            <a:avLst/>
          </a:prstGeom>
          <a:noFill/>
        </p:spPr>
        <p:txBody>
          <a:bodyPr wrap="square" lIns="50800" rIns="50800" tIns="25400" bIns="25400">
            <a:spAutoFit/>
          </a:bodyPr>
          <a:lstStyle/>
          <a:p>
            <a:pPr algn="l"/>
            <a:r>
              <a:rPr sz="1500" b="1">
                <a:solidFill>
                  <a:srgbClr val="D5434D"/>
                </a:solidFill>
                <a:latin typeface="Aptos"/>
              </a:rPr>
              <a:t>•</a:t>
            </a:r>
          </a:p>
        </p:txBody>
      </p:sp>
      <p:sp>
        <p:nvSpPr>
          <p:cNvPr id="36" name="TextBox 35"/>
          <p:cNvSpPr txBox="1"/>
          <p:nvPr/>
        </p:nvSpPr>
        <p:spPr>
          <a:xfrm>
            <a:off x="8540496" y="3547872"/>
            <a:ext cx="3008376" cy="429768"/>
          </a:xfrm>
          <a:prstGeom prst="rect">
            <a:avLst/>
          </a:prstGeom>
          <a:noFill/>
        </p:spPr>
        <p:txBody>
          <a:bodyPr wrap="square" lIns="50800" rIns="50800" tIns="25400" bIns="25400">
            <a:spAutoFit/>
          </a:bodyPr>
          <a:lstStyle/>
          <a:p>
            <a:pPr algn="l"/>
            <a:r>
              <a:rPr sz="1100" b="0">
                <a:solidFill>
                  <a:srgbClr val="243044"/>
                </a:solidFill>
                <a:latin typeface="Aptos"/>
              </a:rPr>
              <a:t>SEBI’s retail algo-trading framework is live</a:t>
            </a:r>
          </a:p>
        </p:txBody>
      </p:sp>
      <p:sp>
        <p:nvSpPr>
          <p:cNvPr id="37" name="TextBox 36"/>
          <p:cNvSpPr txBox="1"/>
          <p:nvPr/>
        </p:nvSpPr>
        <p:spPr>
          <a:xfrm>
            <a:off x="8348471" y="4050791"/>
            <a:ext cx="146304" cy="228600"/>
          </a:xfrm>
          <a:prstGeom prst="rect">
            <a:avLst/>
          </a:prstGeom>
          <a:noFill/>
        </p:spPr>
        <p:txBody>
          <a:bodyPr wrap="square" lIns="50800" rIns="50800" tIns="25400" bIns="25400">
            <a:spAutoFit/>
          </a:bodyPr>
          <a:lstStyle/>
          <a:p>
            <a:pPr algn="l"/>
            <a:r>
              <a:rPr sz="1500" b="1">
                <a:solidFill>
                  <a:srgbClr val="D5434D"/>
                </a:solidFill>
                <a:latin typeface="Aptos"/>
              </a:rPr>
              <a:t>•</a:t>
            </a:r>
          </a:p>
        </p:txBody>
      </p:sp>
      <p:sp>
        <p:nvSpPr>
          <p:cNvPr id="38" name="TextBox 37"/>
          <p:cNvSpPr txBox="1"/>
          <p:nvPr/>
        </p:nvSpPr>
        <p:spPr>
          <a:xfrm>
            <a:off x="8540496" y="4050791"/>
            <a:ext cx="3008376" cy="429768"/>
          </a:xfrm>
          <a:prstGeom prst="rect">
            <a:avLst/>
          </a:prstGeom>
          <a:noFill/>
        </p:spPr>
        <p:txBody>
          <a:bodyPr wrap="square" lIns="50800" rIns="50800" tIns="25400" bIns="25400">
            <a:spAutoFit/>
          </a:bodyPr>
          <a:lstStyle/>
          <a:p>
            <a:pPr algn="l"/>
            <a:r>
              <a:rPr sz="1100" b="0">
                <a:solidFill>
                  <a:srgbClr val="243044"/>
                </a:solidFill>
                <a:latin typeface="Aptos"/>
              </a:rPr>
              <a:t>A failed audit can cause regulatory and reputational damage</a:t>
            </a:r>
          </a:p>
        </p:txBody>
      </p:sp>
      <p:sp>
        <p:nvSpPr>
          <p:cNvPr id="39" name="TextBox 38"/>
          <p:cNvSpPr txBox="1"/>
          <p:nvPr/>
        </p:nvSpPr>
        <p:spPr>
          <a:xfrm>
            <a:off x="8348471" y="4553712"/>
            <a:ext cx="146304" cy="228600"/>
          </a:xfrm>
          <a:prstGeom prst="rect">
            <a:avLst/>
          </a:prstGeom>
          <a:noFill/>
        </p:spPr>
        <p:txBody>
          <a:bodyPr wrap="square" lIns="50800" rIns="50800" tIns="25400" bIns="25400">
            <a:spAutoFit/>
          </a:bodyPr>
          <a:lstStyle/>
          <a:p>
            <a:pPr algn="l"/>
            <a:r>
              <a:rPr sz="1500" b="1">
                <a:solidFill>
                  <a:srgbClr val="D5434D"/>
                </a:solidFill>
                <a:latin typeface="Aptos"/>
              </a:rPr>
              <a:t>•</a:t>
            </a:r>
          </a:p>
        </p:txBody>
      </p:sp>
      <p:sp>
        <p:nvSpPr>
          <p:cNvPr id="40" name="TextBox 39"/>
          <p:cNvSpPr txBox="1"/>
          <p:nvPr/>
        </p:nvSpPr>
        <p:spPr>
          <a:xfrm>
            <a:off x="8540496" y="4553712"/>
            <a:ext cx="3008376" cy="429768"/>
          </a:xfrm>
          <a:prstGeom prst="rect">
            <a:avLst/>
          </a:prstGeom>
          <a:noFill/>
        </p:spPr>
        <p:txBody>
          <a:bodyPr wrap="square" lIns="50800" rIns="50800" tIns="25400" bIns="25400">
            <a:spAutoFit/>
          </a:bodyPr>
          <a:lstStyle/>
          <a:p>
            <a:pPr algn="l"/>
            <a:r>
              <a:rPr sz="1100" b="0">
                <a:solidFill>
                  <a:srgbClr val="243044"/>
                </a:solidFill>
                <a:latin typeface="Aptos"/>
              </a:rPr>
              <a:t>Compliance teams need evidence continuously</a:t>
            </a:r>
          </a:p>
        </p:txBody>
      </p:sp>
      <p:sp>
        <p:nvSpPr>
          <p:cNvPr id="41" name="TextBox 40"/>
          <p:cNvSpPr txBox="1"/>
          <p:nvPr/>
        </p:nvSpPr>
        <p:spPr>
          <a:xfrm>
            <a:off x="411480" y="6492240"/>
            <a:ext cx="3840480" cy="182880"/>
          </a:xfrm>
          <a:prstGeom prst="rect">
            <a:avLst/>
          </a:prstGeom>
          <a:noFill/>
        </p:spPr>
        <p:txBody>
          <a:bodyPr wrap="square" lIns="50800" rIns="50800" tIns="25400" bIns="25400">
            <a:spAutoFit/>
          </a:bodyPr>
          <a:lstStyle/>
          <a:p>
            <a:pPr algn="l"/>
            <a:r>
              <a:rPr sz="800" b="0">
                <a:solidFill>
                  <a:srgbClr val="637184"/>
                </a:solidFill>
                <a:latin typeface="Aptos"/>
              </a:rPr>
              <a:t>CooL SDK • India BFSI concept</a:t>
            </a:r>
          </a:p>
        </p:txBody>
      </p:sp>
      <p:sp>
        <p:nvSpPr>
          <p:cNvPr id="42" name="TextBox 41"/>
          <p:cNvSpPr txBox="1"/>
          <p:nvPr/>
        </p:nvSpPr>
        <p:spPr>
          <a:xfrm>
            <a:off x="6400800" y="6492240"/>
            <a:ext cx="5349240" cy="182880"/>
          </a:xfrm>
          <a:prstGeom prst="rect">
            <a:avLst/>
          </a:prstGeom>
          <a:noFill/>
        </p:spPr>
        <p:txBody>
          <a:bodyPr wrap="square" lIns="50800" rIns="50800" tIns="25400" bIns="25400">
            <a:spAutoFit/>
          </a:bodyPr>
          <a:lstStyle/>
          <a:p>
            <a:pPr algn="r"/>
            <a:r>
              <a:rPr sz="700" b="0">
                <a:solidFill>
                  <a:srgbClr val="637184"/>
                </a:solidFill>
                <a:latin typeface="Aptos"/>
              </a:rPr>
              <a:t>Sources: RBI draft MRM reporting; SEBI retail algo framework [web:74][web:89]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6FC"/>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1B8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384048"/>
            <a:ext cx="502920" cy="384048"/>
          </a:xfrm>
          <a:prstGeom prst="rect">
            <a:avLst/>
          </a:prstGeom>
          <a:noFill/>
        </p:spPr>
        <p:txBody>
          <a:bodyPr wrap="square" lIns="50800" rIns="50800" tIns="25400" bIns="25400">
            <a:spAutoFit/>
          </a:bodyPr>
          <a:lstStyle/>
          <a:p>
            <a:pPr algn="l"/>
            <a:r>
              <a:rPr sz="1400" b="1">
                <a:solidFill>
                  <a:srgbClr val="21B8D1"/>
                </a:solidFill>
                <a:latin typeface="Aptos"/>
              </a:rPr>
              <a:t>02</a:t>
            </a:r>
          </a:p>
        </p:txBody>
      </p:sp>
      <p:sp>
        <p:nvSpPr>
          <p:cNvPr id="4" name="TextBox 3"/>
          <p:cNvSpPr txBox="1"/>
          <p:nvPr/>
        </p:nvSpPr>
        <p:spPr>
          <a:xfrm>
            <a:off x="960120" y="310896"/>
            <a:ext cx="10789920" cy="502920"/>
          </a:xfrm>
          <a:prstGeom prst="rect">
            <a:avLst/>
          </a:prstGeom>
          <a:noFill/>
        </p:spPr>
        <p:txBody>
          <a:bodyPr wrap="square" lIns="50800" rIns="50800" tIns="25400" bIns="25400">
            <a:spAutoFit/>
          </a:bodyPr>
          <a:lstStyle/>
          <a:p>
            <a:pPr algn="l"/>
            <a:r>
              <a:rPr sz="2800" b="1">
                <a:solidFill>
                  <a:srgbClr val="09152D"/>
                </a:solidFill>
                <a:latin typeface="Aptos"/>
              </a:rPr>
              <a:t>Market Need: Compliance Is Operational</a:t>
            </a:r>
          </a:p>
        </p:txBody>
      </p:sp>
      <p:sp>
        <p:nvSpPr>
          <p:cNvPr id="5" name="TextBox 4"/>
          <p:cNvSpPr txBox="1"/>
          <p:nvPr/>
        </p:nvSpPr>
        <p:spPr>
          <a:xfrm>
            <a:off x="978408" y="850392"/>
            <a:ext cx="10607040" cy="301752"/>
          </a:xfrm>
          <a:prstGeom prst="rect">
            <a:avLst/>
          </a:prstGeom>
          <a:noFill/>
        </p:spPr>
        <p:txBody>
          <a:bodyPr wrap="square" lIns="50800" rIns="50800" tIns="25400" bIns="25400">
            <a:spAutoFit/>
          </a:bodyPr>
          <a:lstStyle/>
          <a:p>
            <a:pPr algn="l"/>
            <a:r>
              <a:rPr sz="1100" b="0">
                <a:solidFill>
                  <a:srgbClr val="637184"/>
                </a:solidFill>
                <a:latin typeface="Aptos"/>
              </a:rPr>
              <a:t>This is a must-have: regulated firms must show control, traceability and usable audit evidence.</a:t>
            </a:r>
          </a:p>
        </p:txBody>
      </p:sp>
      <p:sp>
        <p:nvSpPr>
          <p:cNvPr id="6" name="Rounded Rectangle 5"/>
          <p:cNvSpPr/>
          <p:nvPr/>
        </p:nvSpPr>
        <p:spPr>
          <a:xfrm>
            <a:off x="502920" y="1417320"/>
            <a:ext cx="3566160" cy="201168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17320"/>
            <a:ext cx="3566160" cy="109728"/>
          </a:xfrm>
          <a:prstGeom prst="rect">
            <a:avLst/>
          </a:prstGeom>
          <a:solidFill>
            <a:srgbClr val="1E60B4"/>
          </a:solidFill>
          <a:ln>
            <a:solidFill>
              <a:srgbClr val="1E60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64208"/>
            <a:ext cx="3200400" cy="274320"/>
          </a:xfrm>
          <a:prstGeom prst="rect">
            <a:avLst/>
          </a:prstGeom>
          <a:noFill/>
        </p:spPr>
        <p:txBody>
          <a:bodyPr wrap="square" lIns="50800" rIns="50800" tIns="25400" bIns="25400">
            <a:spAutoFit/>
          </a:bodyPr>
          <a:lstStyle/>
          <a:p>
            <a:pPr algn="l"/>
            <a:r>
              <a:rPr sz="1600" b="1">
                <a:solidFill>
                  <a:srgbClr val="09152D"/>
                </a:solidFill>
                <a:latin typeface="Aptos"/>
              </a:rPr>
              <a:t>RBI • banks &amp; NBFCs</a:t>
            </a:r>
          </a:p>
        </p:txBody>
      </p:sp>
      <p:sp>
        <p:nvSpPr>
          <p:cNvPr id="9" name="TextBox 8"/>
          <p:cNvSpPr txBox="1"/>
          <p:nvPr/>
        </p:nvSpPr>
        <p:spPr>
          <a:xfrm>
            <a:off x="685800" y="2011680"/>
            <a:ext cx="3200400" cy="768096"/>
          </a:xfrm>
          <a:prstGeom prst="rect">
            <a:avLst/>
          </a:prstGeom>
          <a:noFill/>
        </p:spPr>
        <p:txBody>
          <a:bodyPr wrap="square" lIns="50800" rIns="50800" tIns="25400" bIns="25400">
            <a:spAutoFit/>
          </a:bodyPr>
          <a:lstStyle/>
          <a:p>
            <a:pPr algn="l"/>
            <a:r>
              <a:rPr sz="1100" b="0">
                <a:solidFill>
                  <a:srgbClr val="243044"/>
                </a:solidFill>
                <a:latin typeface="Aptos"/>
              </a:rPr>
              <a:t>Draft 2026 guidance calls for governance, model inventory, independent validation and oversight of AI/ML model risk.</a:t>
            </a:r>
          </a:p>
        </p:txBody>
      </p:sp>
      <p:sp>
        <p:nvSpPr>
          <p:cNvPr id="10" name="TextBox 9"/>
          <p:cNvSpPr txBox="1"/>
          <p:nvPr/>
        </p:nvSpPr>
        <p:spPr>
          <a:xfrm>
            <a:off x="685800" y="2907792"/>
            <a:ext cx="3200400" cy="228600"/>
          </a:xfrm>
          <a:prstGeom prst="rect">
            <a:avLst/>
          </a:prstGeom>
          <a:noFill/>
        </p:spPr>
        <p:txBody>
          <a:bodyPr wrap="square" lIns="50800" rIns="50800" tIns="25400" bIns="25400">
            <a:spAutoFit/>
          </a:bodyPr>
          <a:lstStyle/>
          <a:p>
            <a:pPr algn="l"/>
            <a:r>
              <a:rPr sz="1000" b="1">
                <a:solidFill>
                  <a:srgbClr val="1E60B4"/>
                </a:solidFill>
                <a:latin typeface="Aptos"/>
              </a:rPr>
              <a:t>Buyer: Board, risk and compliance teams</a:t>
            </a:r>
          </a:p>
        </p:txBody>
      </p:sp>
      <p:sp>
        <p:nvSpPr>
          <p:cNvPr id="11" name="Rounded Rectangle 10"/>
          <p:cNvSpPr/>
          <p:nvPr/>
        </p:nvSpPr>
        <p:spPr>
          <a:xfrm>
            <a:off x="4297680" y="1417320"/>
            <a:ext cx="3566160" cy="201168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417320"/>
            <a:ext cx="3566160" cy="109728"/>
          </a:xfrm>
          <a:prstGeom prst="rect">
            <a:avLst/>
          </a:prstGeom>
          <a:solidFill>
            <a:srgbClr val="1A897B"/>
          </a:solidFill>
          <a:ln>
            <a:solidFill>
              <a:srgbClr val="1A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664208"/>
            <a:ext cx="3200400" cy="274320"/>
          </a:xfrm>
          <a:prstGeom prst="rect">
            <a:avLst/>
          </a:prstGeom>
          <a:noFill/>
        </p:spPr>
        <p:txBody>
          <a:bodyPr wrap="square" lIns="50800" rIns="50800" tIns="25400" bIns="25400">
            <a:spAutoFit/>
          </a:bodyPr>
          <a:lstStyle/>
          <a:p>
            <a:pPr algn="l"/>
            <a:r>
              <a:rPr sz="1600" b="1">
                <a:solidFill>
                  <a:srgbClr val="09152D"/>
                </a:solidFill>
                <a:latin typeface="Aptos"/>
              </a:rPr>
              <a:t>SEBI • brokers</a:t>
            </a:r>
          </a:p>
        </p:txBody>
      </p:sp>
      <p:sp>
        <p:nvSpPr>
          <p:cNvPr id="14" name="TextBox 13"/>
          <p:cNvSpPr txBox="1"/>
          <p:nvPr/>
        </p:nvSpPr>
        <p:spPr>
          <a:xfrm>
            <a:off x="4480560" y="2011680"/>
            <a:ext cx="3200400" cy="768096"/>
          </a:xfrm>
          <a:prstGeom prst="rect">
            <a:avLst/>
          </a:prstGeom>
          <a:noFill/>
        </p:spPr>
        <p:txBody>
          <a:bodyPr wrap="square" lIns="50800" rIns="50800" tIns="25400" bIns="25400">
            <a:spAutoFit/>
          </a:bodyPr>
          <a:lstStyle/>
          <a:p>
            <a:pPr algn="l"/>
            <a:r>
              <a:rPr sz="1100" b="0">
                <a:solidFill>
                  <a:srgbClr val="243044"/>
                </a:solidFill>
                <a:latin typeface="Aptos"/>
              </a:rPr>
              <a:t>The retail algo-trading framework took effect in April 2026; brokers must retain detailed order records and audit trails.</a:t>
            </a:r>
          </a:p>
        </p:txBody>
      </p:sp>
      <p:sp>
        <p:nvSpPr>
          <p:cNvPr id="15" name="TextBox 14"/>
          <p:cNvSpPr txBox="1"/>
          <p:nvPr/>
        </p:nvSpPr>
        <p:spPr>
          <a:xfrm>
            <a:off x="4480560" y="2907792"/>
            <a:ext cx="3200400" cy="228600"/>
          </a:xfrm>
          <a:prstGeom prst="rect">
            <a:avLst/>
          </a:prstGeom>
          <a:noFill/>
        </p:spPr>
        <p:txBody>
          <a:bodyPr wrap="square" lIns="50800" rIns="50800" tIns="25400" bIns="25400">
            <a:spAutoFit/>
          </a:bodyPr>
          <a:lstStyle/>
          <a:p>
            <a:pPr algn="l"/>
            <a:r>
              <a:rPr sz="1000" b="1">
                <a:solidFill>
                  <a:srgbClr val="1A897B"/>
                </a:solidFill>
                <a:latin typeface="Aptos"/>
              </a:rPr>
              <a:t>Buyer: Broker compliance and trading tech</a:t>
            </a:r>
          </a:p>
        </p:txBody>
      </p:sp>
      <p:sp>
        <p:nvSpPr>
          <p:cNvPr id="16" name="Rounded Rectangle 15"/>
          <p:cNvSpPr/>
          <p:nvPr/>
        </p:nvSpPr>
        <p:spPr>
          <a:xfrm>
            <a:off x="8092440" y="1417320"/>
            <a:ext cx="3566160" cy="201168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417320"/>
            <a:ext cx="3566160" cy="109728"/>
          </a:xfrm>
          <a:prstGeom prst="rect">
            <a:avLst/>
          </a:prstGeom>
          <a:solidFill>
            <a:srgbClr val="EE8D37"/>
          </a:solidFill>
          <a:ln>
            <a:solidFill>
              <a:srgbClr val="EE8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664208"/>
            <a:ext cx="3200400" cy="274320"/>
          </a:xfrm>
          <a:prstGeom prst="rect">
            <a:avLst/>
          </a:prstGeom>
          <a:noFill/>
        </p:spPr>
        <p:txBody>
          <a:bodyPr wrap="square" lIns="50800" rIns="50800" tIns="25400" bIns="25400">
            <a:spAutoFit/>
          </a:bodyPr>
          <a:lstStyle/>
          <a:p>
            <a:pPr algn="l"/>
            <a:r>
              <a:rPr sz="1600" b="1">
                <a:solidFill>
                  <a:srgbClr val="09152D"/>
                </a:solidFill>
                <a:latin typeface="Aptos"/>
              </a:rPr>
              <a:t>DPDP • data fiduciaries</a:t>
            </a:r>
          </a:p>
        </p:txBody>
      </p:sp>
      <p:sp>
        <p:nvSpPr>
          <p:cNvPr id="19" name="TextBox 18"/>
          <p:cNvSpPr txBox="1"/>
          <p:nvPr/>
        </p:nvSpPr>
        <p:spPr>
          <a:xfrm>
            <a:off x="8275320" y="2011680"/>
            <a:ext cx="3200400" cy="768096"/>
          </a:xfrm>
          <a:prstGeom prst="rect">
            <a:avLst/>
          </a:prstGeom>
          <a:noFill/>
        </p:spPr>
        <p:txBody>
          <a:bodyPr wrap="square" lIns="50800" rIns="50800" tIns="25400" bIns="25400">
            <a:spAutoFit/>
          </a:bodyPr>
          <a:lstStyle/>
          <a:p>
            <a:pPr algn="l"/>
            <a:r>
              <a:rPr sz="1100" b="0">
                <a:solidFill>
                  <a:srgbClr val="243044"/>
                </a:solidFill>
                <a:latin typeface="Aptos"/>
              </a:rPr>
              <a:t>Consent and processing records must be managed so they can be demonstrated when required; AI workflows increase the evidence burden.</a:t>
            </a:r>
          </a:p>
        </p:txBody>
      </p:sp>
      <p:sp>
        <p:nvSpPr>
          <p:cNvPr id="20" name="TextBox 19"/>
          <p:cNvSpPr txBox="1"/>
          <p:nvPr/>
        </p:nvSpPr>
        <p:spPr>
          <a:xfrm>
            <a:off x="8275320" y="2907792"/>
            <a:ext cx="3200400" cy="228600"/>
          </a:xfrm>
          <a:prstGeom prst="rect">
            <a:avLst/>
          </a:prstGeom>
          <a:noFill/>
        </p:spPr>
        <p:txBody>
          <a:bodyPr wrap="square" lIns="50800" rIns="50800" tIns="25400" bIns="25400">
            <a:spAutoFit/>
          </a:bodyPr>
          <a:lstStyle/>
          <a:p>
            <a:pPr algn="l"/>
            <a:r>
              <a:rPr sz="1000" b="1">
                <a:solidFill>
                  <a:srgbClr val="EE8D37"/>
                </a:solidFill>
                <a:latin typeface="Aptos"/>
              </a:rPr>
              <a:t>Buyer: Privacy, security and product teams</a:t>
            </a:r>
          </a:p>
        </p:txBody>
      </p:sp>
      <p:sp>
        <p:nvSpPr>
          <p:cNvPr id="21" name="Rounded Rectangle 20"/>
          <p:cNvSpPr/>
          <p:nvPr/>
        </p:nvSpPr>
        <p:spPr>
          <a:xfrm>
            <a:off x="502920" y="3794760"/>
            <a:ext cx="11155680" cy="1737360"/>
          </a:xfrm>
          <a:prstGeom prst="roundRect">
            <a:avLst/>
          </a:prstGeom>
          <a:solidFill>
            <a:srgbClr val="E8F1FA"/>
          </a:solidFill>
          <a:ln>
            <a:solidFill>
              <a:srgbClr val="B9D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023360"/>
            <a:ext cx="2011680" cy="274320"/>
          </a:xfrm>
          <a:prstGeom prst="rect">
            <a:avLst/>
          </a:prstGeom>
          <a:noFill/>
        </p:spPr>
        <p:txBody>
          <a:bodyPr wrap="square" lIns="50800" rIns="50800" tIns="25400" bIns="25400">
            <a:spAutoFit/>
          </a:bodyPr>
          <a:lstStyle/>
          <a:p>
            <a:pPr algn="l"/>
            <a:r>
              <a:rPr sz="1600" b="1">
                <a:solidFill>
                  <a:srgbClr val="09152D"/>
                </a:solidFill>
                <a:latin typeface="Aptos"/>
              </a:rPr>
              <a:t>The buying trigger</a:t>
            </a:r>
          </a:p>
        </p:txBody>
      </p:sp>
      <p:sp>
        <p:nvSpPr>
          <p:cNvPr id="23" name="TextBox 22"/>
          <p:cNvSpPr txBox="1"/>
          <p:nvPr/>
        </p:nvSpPr>
        <p:spPr>
          <a:xfrm>
            <a:off x="749808" y="4389120"/>
            <a:ext cx="10424160" cy="594360"/>
          </a:xfrm>
          <a:prstGeom prst="rect">
            <a:avLst/>
          </a:prstGeom>
          <a:noFill/>
        </p:spPr>
        <p:txBody>
          <a:bodyPr wrap="square" lIns="50800" rIns="50800" tIns="25400" bIns="25400">
            <a:spAutoFit/>
          </a:bodyPr>
          <a:lstStyle/>
          <a:p>
            <a:pPr algn="l"/>
            <a:r>
              <a:rPr sz="1500" b="0">
                <a:solidFill>
                  <a:srgbClr val="243044"/>
                </a:solidFill>
                <a:latin typeface="Aptos"/>
              </a:rPr>
              <a:t>“Show us the audit trail.”  A broker, bank or NBFC must respond quickly with records that are complete, attributable and difficult to dispute. CooL is positioned as an evidence layer alongside existing GRC, SIEM, database and deployment tools — not as a replacement for them.</a:t>
            </a:r>
          </a:p>
        </p:txBody>
      </p:sp>
      <p:sp>
        <p:nvSpPr>
          <p:cNvPr id="24" name="TextBox 23"/>
          <p:cNvSpPr txBox="1"/>
          <p:nvPr/>
        </p:nvSpPr>
        <p:spPr>
          <a:xfrm>
            <a:off x="749808" y="5175504"/>
            <a:ext cx="10424160" cy="228600"/>
          </a:xfrm>
          <a:prstGeom prst="rect">
            <a:avLst/>
          </a:prstGeom>
          <a:noFill/>
        </p:spPr>
        <p:txBody>
          <a:bodyPr wrap="square" lIns="50800" rIns="50800" tIns="25400" bIns="25400">
            <a:spAutoFit/>
          </a:bodyPr>
          <a:lstStyle/>
          <a:p>
            <a:pPr algn="l"/>
            <a:r>
              <a:rPr sz="1200" b="1">
                <a:solidFill>
                  <a:srgbClr val="1E60B4"/>
                </a:solidFill>
                <a:latin typeface="Aptos"/>
              </a:rPr>
              <a:t>Must-have test: a compliance requirement + recurring audit exposure + operational risk + a clear budget owner.</a:t>
            </a:r>
          </a:p>
        </p:txBody>
      </p:sp>
      <p:sp>
        <p:nvSpPr>
          <p:cNvPr id="25" name="TextBox 24"/>
          <p:cNvSpPr txBox="1"/>
          <p:nvPr/>
        </p:nvSpPr>
        <p:spPr>
          <a:xfrm>
            <a:off x="411480" y="6492240"/>
            <a:ext cx="3840480" cy="182880"/>
          </a:xfrm>
          <a:prstGeom prst="rect">
            <a:avLst/>
          </a:prstGeom>
          <a:noFill/>
        </p:spPr>
        <p:txBody>
          <a:bodyPr wrap="square" lIns="50800" rIns="50800" tIns="25400" bIns="25400">
            <a:spAutoFit/>
          </a:bodyPr>
          <a:lstStyle/>
          <a:p>
            <a:pPr algn="l"/>
            <a:r>
              <a:rPr sz="800" b="0">
                <a:solidFill>
                  <a:srgbClr val="637184"/>
                </a:solidFill>
                <a:latin typeface="Aptos"/>
              </a:rPr>
              <a:t>CooL SDK • India BFSI concept</a:t>
            </a:r>
          </a:p>
        </p:txBody>
      </p:sp>
      <p:sp>
        <p:nvSpPr>
          <p:cNvPr id="26" name="TextBox 25"/>
          <p:cNvSpPr txBox="1"/>
          <p:nvPr/>
        </p:nvSpPr>
        <p:spPr>
          <a:xfrm>
            <a:off x="6400800" y="6492240"/>
            <a:ext cx="5349240" cy="182880"/>
          </a:xfrm>
          <a:prstGeom prst="rect">
            <a:avLst/>
          </a:prstGeom>
          <a:noFill/>
        </p:spPr>
        <p:txBody>
          <a:bodyPr wrap="square" lIns="50800" rIns="50800" tIns="25400" bIns="25400">
            <a:spAutoFit/>
          </a:bodyPr>
          <a:lstStyle/>
          <a:p>
            <a:pPr algn="r"/>
            <a:r>
              <a:rPr sz="700" b="0">
                <a:solidFill>
                  <a:srgbClr val="637184"/>
                </a:solidFill>
                <a:latin typeface="Aptos"/>
              </a:rPr>
              <a:t>Sources: RBI draft MRM guidance [web:74][web:120]; SEBI reporting [web:89][web:91]; DPDP records [web:107]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6FC"/>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1B8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384048"/>
            <a:ext cx="502920" cy="384048"/>
          </a:xfrm>
          <a:prstGeom prst="rect">
            <a:avLst/>
          </a:prstGeom>
          <a:noFill/>
        </p:spPr>
        <p:txBody>
          <a:bodyPr wrap="square" lIns="50800" rIns="50800" tIns="25400" bIns="25400">
            <a:spAutoFit/>
          </a:bodyPr>
          <a:lstStyle/>
          <a:p>
            <a:pPr algn="l"/>
            <a:r>
              <a:rPr sz="1400" b="1">
                <a:solidFill>
                  <a:srgbClr val="21B8D1"/>
                </a:solidFill>
                <a:latin typeface="Aptos"/>
              </a:rPr>
              <a:t>03</a:t>
            </a:r>
          </a:p>
        </p:txBody>
      </p:sp>
      <p:sp>
        <p:nvSpPr>
          <p:cNvPr id="4" name="TextBox 3"/>
          <p:cNvSpPr txBox="1"/>
          <p:nvPr/>
        </p:nvSpPr>
        <p:spPr>
          <a:xfrm>
            <a:off x="960120" y="310896"/>
            <a:ext cx="10789920" cy="502920"/>
          </a:xfrm>
          <a:prstGeom prst="rect">
            <a:avLst/>
          </a:prstGeom>
          <a:noFill/>
        </p:spPr>
        <p:txBody>
          <a:bodyPr wrap="square" lIns="50800" rIns="50800" tIns="25400" bIns="25400">
            <a:spAutoFit/>
          </a:bodyPr>
          <a:lstStyle/>
          <a:p>
            <a:pPr algn="l"/>
            <a:r>
              <a:rPr sz="2800" b="1">
                <a:solidFill>
                  <a:srgbClr val="09152D"/>
                </a:solidFill>
                <a:latin typeface="Aptos"/>
              </a:rPr>
              <a:t>Proposed Solution: CooL Evidence Receipts</a:t>
            </a:r>
          </a:p>
        </p:txBody>
      </p:sp>
      <p:sp>
        <p:nvSpPr>
          <p:cNvPr id="5" name="TextBox 4"/>
          <p:cNvSpPr txBox="1"/>
          <p:nvPr/>
        </p:nvSpPr>
        <p:spPr>
          <a:xfrm>
            <a:off x="978408" y="850392"/>
            <a:ext cx="10607040" cy="301752"/>
          </a:xfrm>
          <a:prstGeom prst="rect">
            <a:avLst/>
          </a:prstGeom>
          <a:noFill/>
        </p:spPr>
        <p:txBody>
          <a:bodyPr wrap="square" lIns="50800" rIns="50800" tIns="25400" bIns="25400">
            <a:spAutoFit/>
          </a:bodyPr>
          <a:lstStyle/>
          <a:p>
            <a:pPr algn="l"/>
            <a:r>
              <a:rPr sz="1100" b="0">
                <a:solidFill>
                  <a:srgbClr val="637184"/>
                </a:solidFill>
                <a:latin typeface="Aptos"/>
              </a:rPr>
              <a:t>CooL seals the change record; the regulated firm keeps its operational systems and chooses what metadata to include.</a:t>
            </a:r>
          </a:p>
        </p:txBody>
      </p:sp>
      <p:sp>
        <p:nvSpPr>
          <p:cNvPr id="6" name="Rounded Rectangle 5"/>
          <p:cNvSpPr/>
          <p:nvPr/>
        </p:nvSpPr>
        <p:spPr>
          <a:xfrm>
            <a:off x="438912" y="1298448"/>
            <a:ext cx="2148840" cy="109728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44752"/>
            <a:ext cx="228600" cy="228600"/>
          </a:xfrm>
          <a:prstGeom prst="rect">
            <a:avLst/>
          </a:prstGeom>
          <a:noFill/>
        </p:spPr>
        <p:txBody>
          <a:bodyPr wrap="square" lIns="50800" rIns="50800" tIns="25400" bIns="25400">
            <a:spAutoFit/>
          </a:bodyPr>
          <a:lstStyle/>
          <a:p>
            <a:pPr algn="l"/>
            <a:r>
              <a:rPr sz="1300" b="1">
                <a:solidFill>
                  <a:srgbClr val="21B8D1"/>
                </a:solidFill>
                <a:latin typeface="Aptos"/>
              </a:rPr>
              <a:t>1</a:t>
            </a:r>
          </a:p>
        </p:txBody>
      </p:sp>
      <p:sp>
        <p:nvSpPr>
          <p:cNvPr id="8" name="TextBox 7"/>
          <p:cNvSpPr txBox="1"/>
          <p:nvPr/>
        </p:nvSpPr>
        <p:spPr>
          <a:xfrm>
            <a:off x="832103" y="1399032"/>
            <a:ext cx="1600200" cy="228600"/>
          </a:xfrm>
          <a:prstGeom prst="rect">
            <a:avLst/>
          </a:prstGeom>
          <a:noFill/>
        </p:spPr>
        <p:txBody>
          <a:bodyPr wrap="square" lIns="50800" rIns="50800" tIns="25400" bIns="25400">
            <a:spAutoFit/>
          </a:bodyPr>
          <a:lstStyle/>
          <a:p>
            <a:pPr algn="l"/>
            <a:r>
              <a:rPr sz="1300" b="1">
                <a:solidFill>
                  <a:srgbClr val="09152D"/>
                </a:solidFill>
                <a:latin typeface="Aptos"/>
              </a:rPr>
              <a:t>AI change / event</a:t>
            </a:r>
          </a:p>
        </p:txBody>
      </p:sp>
      <p:sp>
        <p:nvSpPr>
          <p:cNvPr id="9" name="TextBox 8"/>
          <p:cNvSpPr txBox="1"/>
          <p:nvPr/>
        </p:nvSpPr>
        <p:spPr>
          <a:xfrm>
            <a:off x="603503" y="1737360"/>
            <a:ext cx="1783080" cy="411480"/>
          </a:xfrm>
          <a:prstGeom prst="rect">
            <a:avLst/>
          </a:prstGeom>
          <a:noFill/>
        </p:spPr>
        <p:txBody>
          <a:bodyPr wrap="square" lIns="50800" rIns="50800" tIns="25400" bIns="25400">
            <a:spAutoFit/>
          </a:bodyPr>
          <a:lstStyle/>
          <a:p>
            <a:pPr algn="l"/>
            <a:r>
              <a:rPr sz="1000" b="0">
                <a:solidFill>
                  <a:srgbClr val="243044"/>
                </a:solidFill>
                <a:latin typeface="Aptos"/>
              </a:rPr>
              <a:t>Model update, prompt revision, algo order</a:t>
            </a:r>
          </a:p>
        </p:txBody>
      </p:sp>
      <p:sp>
        <p:nvSpPr>
          <p:cNvPr id="10" name="TextBox 9"/>
          <p:cNvSpPr txBox="1"/>
          <p:nvPr/>
        </p:nvSpPr>
        <p:spPr>
          <a:xfrm>
            <a:off x="2615184" y="1664208"/>
            <a:ext cx="256032" cy="237744"/>
          </a:xfrm>
          <a:prstGeom prst="rect">
            <a:avLst/>
          </a:prstGeom>
          <a:noFill/>
        </p:spPr>
        <p:txBody>
          <a:bodyPr wrap="square" lIns="50800" rIns="50800" tIns="25400" bIns="25400">
            <a:spAutoFit/>
          </a:bodyPr>
          <a:lstStyle/>
          <a:p>
            <a:pPr algn="l"/>
            <a:r>
              <a:rPr sz="1800" b="1">
                <a:solidFill>
                  <a:srgbClr val="1E60B4"/>
                </a:solidFill>
                <a:latin typeface="Aptos"/>
              </a:rPr>
              <a:t>→</a:t>
            </a:r>
          </a:p>
        </p:txBody>
      </p:sp>
      <p:sp>
        <p:nvSpPr>
          <p:cNvPr id="11" name="Rounded Rectangle 10"/>
          <p:cNvSpPr/>
          <p:nvPr/>
        </p:nvSpPr>
        <p:spPr>
          <a:xfrm>
            <a:off x="2788920" y="1298448"/>
            <a:ext cx="2148840" cy="109728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16936" y="1444752"/>
            <a:ext cx="228600" cy="228600"/>
          </a:xfrm>
          <a:prstGeom prst="rect">
            <a:avLst/>
          </a:prstGeom>
          <a:noFill/>
        </p:spPr>
        <p:txBody>
          <a:bodyPr wrap="square" lIns="50800" rIns="50800" tIns="25400" bIns="25400">
            <a:spAutoFit/>
          </a:bodyPr>
          <a:lstStyle/>
          <a:p>
            <a:pPr algn="l"/>
            <a:r>
              <a:rPr sz="1300" b="1">
                <a:solidFill>
                  <a:srgbClr val="21B8D1"/>
                </a:solidFill>
                <a:latin typeface="Aptos"/>
              </a:rPr>
              <a:t>2</a:t>
            </a:r>
          </a:p>
        </p:txBody>
      </p:sp>
      <p:sp>
        <p:nvSpPr>
          <p:cNvPr id="13" name="TextBox 12"/>
          <p:cNvSpPr txBox="1"/>
          <p:nvPr/>
        </p:nvSpPr>
        <p:spPr>
          <a:xfrm>
            <a:off x="3182112" y="1399032"/>
            <a:ext cx="1600200" cy="228600"/>
          </a:xfrm>
          <a:prstGeom prst="rect">
            <a:avLst/>
          </a:prstGeom>
          <a:noFill/>
        </p:spPr>
        <p:txBody>
          <a:bodyPr wrap="square" lIns="50800" rIns="50800" tIns="25400" bIns="25400">
            <a:spAutoFit/>
          </a:bodyPr>
          <a:lstStyle/>
          <a:p>
            <a:pPr algn="l"/>
            <a:r>
              <a:rPr sz="1300" b="1">
                <a:solidFill>
                  <a:srgbClr val="09152D"/>
                </a:solidFill>
                <a:latin typeface="Aptos"/>
              </a:rPr>
              <a:t>CooL capture</a:t>
            </a:r>
          </a:p>
        </p:txBody>
      </p:sp>
      <p:sp>
        <p:nvSpPr>
          <p:cNvPr id="14" name="TextBox 13"/>
          <p:cNvSpPr txBox="1"/>
          <p:nvPr/>
        </p:nvSpPr>
        <p:spPr>
          <a:xfrm>
            <a:off x="2953512" y="1737360"/>
            <a:ext cx="1783080" cy="411480"/>
          </a:xfrm>
          <a:prstGeom prst="rect">
            <a:avLst/>
          </a:prstGeom>
          <a:noFill/>
        </p:spPr>
        <p:txBody>
          <a:bodyPr wrap="square" lIns="50800" rIns="50800" tIns="25400" bIns="25400">
            <a:spAutoFit/>
          </a:bodyPr>
          <a:lstStyle/>
          <a:p>
            <a:pPr algn="l"/>
            <a:r>
              <a:rPr sz="1000" b="0">
                <a:solidFill>
                  <a:srgbClr val="243044"/>
                </a:solidFill>
                <a:latin typeface="Aptos"/>
              </a:rPr>
              <a:t>Create a canonical change record</a:t>
            </a:r>
          </a:p>
        </p:txBody>
      </p:sp>
      <p:sp>
        <p:nvSpPr>
          <p:cNvPr id="15" name="TextBox 14"/>
          <p:cNvSpPr txBox="1"/>
          <p:nvPr/>
        </p:nvSpPr>
        <p:spPr>
          <a:xfrm>
            <a:off x="4965192" y="1664208"/>
            <a:ext cx="256032" cy="237744"/>
          </a:xfrm>
          <a:prstGeom prst="rect">
            <a:avLst/>
          </a:prstGeom>
          <a:noFill/>
        </p:spPr>
        <p:txBody>
          <a:bodyPr wrap="square" lIns="50800" rIns="50800" tIns="25400" bIns="25400">
            <a:spAutoFit/>
          </a:bodyPr>
          <a:lstStyle/>
          <a:p>
            <a:pPr algn="l"/>
            <a:r>
              <a:rPr sz="1800" b="1">
                <a:solidFill>
                  <a:srgbClr val="1E60B4"/>
                </a:solidFill>
                <a:latin typeface="Aptos"/>
              </a:rPr>
              <a:t>→</a:t>
            </a:r>
          </a:p>
        </p:txBody>
      </p:sp>
      <p:sp>
        <p:nvSpPr>
          <p:cNvPr id="16" name="Rounded Rectangle 15"/>
          <p:cNvSpPr/>
          <p:nvPr/>
        </p:nvSpPr>
        <p:spPr>
          <a:xfrm>
            <a:off x="5138927" y="1298448"/>
            <a:ext cx="2148840" cy="109728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66943" y="1444752"/>
            <a:ext cx="228600" cy="228600"/>
          </a:xfrm>
          <a:prstGeom prst="rect">
            <a:avLst/>
          </a:prstGeom>
          <a:noFill/>
        </p:spPr>
        <p:txBody>
          <a:bodyPr wrap="square" lIns="50800" rIns="50800" tIns="25400" bIns="25400">
            <a:spAutoFit/>
          </a:bodyPr>
          <a:lstStyle/>
          <a:p>
            <a:pPr algn="l"/>
            <a:r>
              <a:rPr sz="1300" b="1">
                <a:solidFill>
                  <a:srgbClr val="21B8D1"/>
                </a:solidFill>
                <a:latin typeface="Aptos"/>
              </a:rPr>
              <a:t>3</a:t>
            </a:r>
          </a:p>
        </p:txBody>
      </p:sp>
      <p:sp>
        <p:nvSpPr>
          <p:cNvPr id="18" name="TextBox 17"/>
          <p:cNvSpPr txBox="1"/>
          <p:nvPr/>
        </p:nvSpPr>
        <p:spPr>
          <a:xfrm>
            <a:off x="5532119" y="1399032"/>
            <a:ext cx="1600200" cy="228600"/>
          </a:xfrm>
          <a:prstGeom prst="rect">
            <a:avLst/>
          </a:prstGeom>
          <a:noFill/>
        </p:spPr>
        <p:txBody>
          <a:bodyPr wrap="square" lIns="50800" rIns="50800" tIns="25400" bIns="25400">
            <a:spAutoFit/>
          </a:bodyPr>
          <a:lstStyle/>
          <a:p>
            <a:pPr algn="l"/>
            <a:r>
              <a:rPr sz="1300" b="1">
                <a:solidFill>
                  <a:srgbClr val="09152D"/>
                </a:solidFill>
                <a:latin typeface="Aptos"/>
              </a:rPr>
              <a:t>Cryptographic seal</a:t>
            </a:r>
          </a:p>
        </p:txBody>
      </p:sp>
      <p:sp>
        <p:nvSpPr>
          <p:cNvPr id="19" name="TextBox 18"/>
          <p:cNvSpPr txBox="1"/>
          <p:nvPr/>
        </p:nvSpPr>
        <p:spPr>
          <a:xfrm>
            <a:off x="5303519" y="1737360"/>
            <a:ext cx="1783080" cy="411480"/>
          </a:xfrm>
          <a:prstGeom prst="rect">
            <a:avLst/>
          </a:prstGeom>
          <a:noFill/>
        </p:spPr>
        <p:txBody>
          <a:bodyPr wrap="square" lIns="50800" rIns="50800" tIns="25400" bIns="25400">
            <a:spAutoFit/>
          </a:bodyPr>
          <a:lstStyle/>
          <a:p>
            <a:pPr algn="l"/>
            <a:r>
              <a:rPr sz="1000" b="0">
                <a:solidFill>
                  <a:srgbClr val="243044"/>
                </a:solidFill>
                <a:latin typeface="Aptos"/>
              </a:rPr>
              <a:t>Digest + hybrid digital signature</a:t>
            </a:r>
          </a:p>
        </p:txBody>
      </p:sp>
      <p:sp>
        <p:nvSpPr>
          <p:cNvPr id="20" name="TextBox 19"/>
          <p:cNvSpPr txBox="1"/>
          <p:nvPr/>
        </p:nvSpPr>
        <p:spPr>
          <a:xfrm>
            <a:off x="7315199" y="1664208"/>
            <a:ext cx="256032" cy="237744"/>
          </a:xfrm>
          <a:prstGeom prst="rect">
            <a:avLst/>
          </a:prstGeom>
          <a:noFill/>
        </p:spPr>
        <p:txBody>
          <a:bodyPr wrap="square" lIns="50800" rIns="50800" tIns="25400" bIns="25400">
            <a:spAutoFit/>
          </a:bodyPr>
          <a:lstStyle/>
          <a:p>
            <a:pPr algn="l"/>
            <a:r>
              <a:rPr sz="1800" b="1">
                <a:solidFill>
                  <a:srgbClr val="1E60B4"/>
                </a:solidFill>
                <a:latin typeface="Aptos"/>
              </a:rPr>
              <a:t>→</a:t>
            </a:r>
          </a:p>
        </p:txBody>
      </p:sp>
      <p:sp>
        <p:nvSpPr>
          <p:cNvPr id="21" name="Rounded Rectangle 20"/>
          <p:cNvSpPr/>
          <p:nvPr/>
        </p:nvSpPr>
        <p:spPr>
          <a:xfrm>
            <a:off x="7488936" y="1298448"/>
            <a:ext cx="2148840" cy="109728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16952" y="1444752"/>
            <a:ext cx="228600" cy="228600"/>
          </a:xfrm>
          <a:prstGeom prst="rect">
            <a:avLst/>
          </a:prstGeom>
          <a:noFill/>
        </p:spPr>
        <p:txBody>
          <a:bodyPr wrap="square" lIns="50800" rIns="50800" tIns="25400" bIns="25400">
            <a:spAutoFit/>
          </a:bodyPr>
          <a:lstStyle/>
          <a:p>
            <a:pPr algn="l"/>
            <a:r>
              <a:rPr sz="1300" b="1">
                <a:solidFill>
                  <a:srgbClr val="21B8D1"/>
                </a:solidFill>
                <a:latin typeface="Aptos"/>
              </a:rPr>
              <a:t>4</a:t>
            </a:r>
          </a:p>
        </p:txBody>
      </p:sp>
      <p:sp>
        <p:nvSpPr>
          <p:cNvPr id="23" name="TextBox 22"/>
          <p:cNvSpPr txBox="1"/>
          <p:nvPr/>
        </p:nvSpPr>
        <p:spPr>
          <a:xfrm>
            <a:off x="7882127" y="1399032"/>
            <a:ext cx="1600200" cy="228600"/>
          </a:xfrm>
          <a:prstGeom prst="rect">
            <a:avLst/>
          </a:prstGeom>
          <a:noFill/>
        </p:spPr>
        <p:txBody>
          <a:bodyPr wrap="square" lIns="50800" rIns="50800" tIns="25400" bIns="25400">
            <a:spAutoFit/>
          </a:bodyPr>
          <a:lstStyle/>
          <a:p>
            <a:pPr algn="l"/>
            <a:r>
              <a:rPr sz="1300" b="1">
                <a:solidFill>
                  <a:srgbClr val="09152D"/>
                </a:solidFill>
                <a:latin typeface="Aptos"/>
              </a:rPr>
              <a:t>Transparency log</a:t>
            </a:r>
          </a:p>
        </p:txBody>
      </p:sp>
      <p:sp>
        <p:nvSpPr>
          <p:cNvPr id="24" name="TextBox 23"/>
          <p:cNvSpPr txBox="1"/>
          <p:nvPr/>
        </p:nvSpPr>
        <p:spPr>
          <a:xfrm>
            <a:off x="7653527" y="1737360"/>
            <a:ext cx="1783080" cy="411480"/>
          </a:xfrm>
          <a:prstGeom prst="rect">
            <a:avLst/>
          </a:prstGeom>
          <a:noFill/>
        </p:spPr>
        <p:txBody>
          <a:bodyPr wrap="square" lIns="50800" rIns="50800" tIns="25400" bIns="25400">
            <a:spAutoFit/>
          </a:bodyPr>
          <a:lstStyle/>
          <a:p>
            <a:pPr algn="l"/>
            <a:r>
              <a:rPr sz="1000" b="0">
                <a:solidFill>
                  <a:srgbClr val="243044"/>
                </a:solidFill>
                <a:latin typeface="Aptos"/>
              </a:rPr>
              <a:t>Append-only inclusion proof</a:t>
            </a:r>
          </a:p>
        </p:txBody>
      </p:sp>
      <p:sp>
        <p:nvSpPr>
          <p:cNvPr id="25" name="TextBox 24"/>
          <p:cNvSpPr txBox="1"/>
          <p:nvPr/>
        </p:nvSpPr>
        <p:spPr>
          <a:xfrm>
            <a:off x="9665208" y="1664208"/>
            <a:ext cx="256032" cy="237744"/>
          </a:xfrm>
          <a:prstGeom prst="rect">
            <a:avLst/>
          </a:prstGeom>
          <a:noFill/>
        </p:spPr>
        <p:txBody>
          <a:bodyPr wrap="square" lIns="50800" rIns="50800" tIns="25400" bIns="25400">
            <a:spAutoFit/>
          </a:bodyPr>
          <a:lstStyle/>
          <a:p>
            <a:pPr algn="l"/>
            <a:r>
              <a:rPr sz="1800" b="1">
                <a:solidFill>
                  <a:srgbClr val="1E60B4"/>
                </a:solidFill>
                <a:latin typeface="Aptos"/>
              </a:rPr>
              <a:t>→</a:t>
            </a:r>
          </a:p>
        </p:txBody>
      </p:sp>
      <p:sp>
        <p:nvSpPr>
          <p:cNvPr id="26" name="Rounded Rectangle 25"/>
          <p:cNvSpPr/>
          <p:nvPr/>
        </p:nvSpPr>
        <p:spPr>
          <a:xfrm>
            <a:off x="9838944" y="1298448"/>
            <a:ext cx="2148840" cy="109728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66960" y="1444752"/>
            <a:ext cx="228600" cy="228600"/>
          </a:xfrm>
          <a:prstGeom prst="rect">
            <a:avLst/>
          </a:prstGeom>
          <a:noFill/>
        </p:spPr>
        <p:txBody>
          <a:bodyPr wrap="square" lIns="50800" rIns="50800" tIns="25400" bIns="25400">
            <a:spAutoFit/>
          </a:bodyPr>
          <a:lstStyle/>
          <a:p>
            <a:pPr algn="l"/>
            <a:r>
              <a:rPr sz="1300" b="1">
                <a:solidFill>
                  <a:srgbClr val="21B8D1"/>
                </a:solidFill>
                <a:latin typeface="Aptos"/>
              </a:rPr>
              <a:t>5</a:t>
            </a:r>
          </a:p>
        </p:txBody>
      </p:sp>
      <p:sp>
        <p:nvSpPr>
          <p:cNvPr id="28" name="TextBox 27"/>
          <p:cNvSpPr txBox="1"/>
          <p:nvPr/>
        </p:nvSpPr>
        <p:spPr>
          <a:xfrm>
            <a:off x="10232136" y="1399032"/>
            <a:ext cx="1600200" cy="228600"/>
          </a:xfrm>
          <a:prstGeom prst="rect">
            <a:avLst/>
          </a:prstGeom>
          <a:noFill/>
        </p:spPr>
        <p:txBody>
          <a:bodyPr wrap="square" lIns="50800" rIns="50800" tIns="25400" bIns="25400">
            <a:spAutoFit/>
          </a:bodyPr>
          <a:lstStyle/>
          <a:p>
            <a:pPr algn="l"/>
            <a:r>
              <a:rPr sz="1300" b="1">
                <a:solidFill>
                  <a:srgbClr val="09152D"/>
                </a:solidFill>
                <a:latin typeface="Aptos"/>
              </a:rPr>
              <a:t>Offline check</a:t>
            </a:r>
          </a:p>
        </p:txBody>
      </p:sp>
      <p:sp>
        <p:nvSpPr>
          <p:cNvPr id="29" name="TextBox 28"/>
          <p:cNvSpPr txBox="1"/>
          <p:nvPr/>
        </p:nvSpPr>
        <p:spPr>
          <a:xfrm>
            <a:off x="10003536" y="1737360"/>
            <a:ext cx="1783080" cy="411480"/>
          </a:xfrm>
          <a:prstGeom prst="rect">
            <a:avLst/>
          </a:prstGeom>
          <a:noFill/>
        </p:spPr>
        <p:txBody>
          <a:bodyPr wrap="square" lIns="50800" rIns="50800" tIns="25400" bIns="25400">
            <a:spAutoFit/>
          </a:bodyPr>
          <a:lstStyle/>
          <a:p>
            <a:pPr algn="l"/>
            <a:r>
              <a:rPr sz="1000" b="0">
                <a:solidFill>
                  <a:srgbClr val="243044"/>
                </a:solidFill>
                <a:latin typeface="Aptos"/>
              </a:rPr>
              <a:t>Auditor verifies a portable receipt</a:t>
            </a:r>
          </a:p>
        </p:txBody>
      </p:sp>
      <p:sp>
        <p:nvSpPr>
          <p:cNvPr id="30" name="Rounded Rectangle 29"/>
          <p:cNvSpPr/>
          <p:nvPr/>
        </p:nvSpPr>
        <p:spPr>
          <a:xfrm>
            <a:off x="502920" y="2743200"/>
            <a:ext cx="5285232" cy="1252728"/>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 y="2889504"/>
            <a:ext cx="4937760" cy="228600"/>
          </a:xfrm>
          <a:prstGeom prst="rect">
            <a:avLst/>
          </a:prstGeom>
          <a:noFill/>
        </p:spPr>
        <p:txBody>
          <a:bodyPr wrap="square" lIns="50800" rIns="50800" tIns="25400" bIns="25400">
            <a:spAutoFit/>
          </a:bodyPr>
          <a:lstStyle/>
          <a:p>
            <a:pPr algn="l"/>
            <a:r>
              <a:rPr sz="1300" b="1">
                <a:solidFill>
                  <a:srgbClr val="09152D"/>
                </a:solidFill>
                <a:latin typeface="Aptos"/>
              </a:rPr>
              <a:t>A. Credit scoring model</a:t>
            </a:r>
          </a:p>
        </p:txBody>
      </p:sp>
      <p:sp>
        <p:nvSpPr>
          <p:cNvPr id="32" name="TextBox 31"/>
          <p:cNvSpPr txBox="1"/>
          <p:nvPr/>
        </p:nvSpPr>
        <p:spPr>
          <a:xfrm>
            <a:off x="667512" y="3163824"/>
            <a:ext cx="4892040" cy="411480"/>
          </a:xfrm>
          <a:prstGeom prst="rect">
            <a:avLst/>
          </a:prstGeom>
          <a:noFill/>
        </p:spPr>
        <p:txBody>
          <a:bodyPr wrap="square" lIns="50800" rIns="50800" tIns="25400" bIns="25400">
            <a:spAutoFit/>
          </a:bodyPr>
          <a:lstStyle/>
          <a:p>
            <a:pPr algn="l"/>
            <a:r>
              <a:rPr sz="1000" b="0">
                <a:solidFill>
                  <a:srgbClr val="243044"/>
                </a:solidFill>
                <a:latin typeface="Aptos"/>
              </a:rPr>
              <a:t>A bank changes loan-model version 2.3.1 to 2.3.2. Receipt records model ID, version, approver, validation-report hash and deployment time.</a:t>
            </a:r>
          </a:p>
        </p:txBody>
      </p:sp>
      <p:sp>
        <p:nvSpPr>
          <p:cNvPr id="33" name="TextBox 32"/>
          <p:cNvSpPr txBox="1"/>
          <p:nvPr/>
        </p:nvSpPr>
        <p:spPr>
          <a:xfrm>
            <a:off x="667512" y="3666744"/>
            <a:ext cx="4892040" cy="201168"/>
          </a:xfrm>
          <a:prstGeom prst="rect">
            <a:avLst/>
          </a:prstGeom>
          <a:noFill/>
        </p:spPr>
        <p:txBody>
          <a:bodyPr wrap="square" lIns="50800" rIns="50800" tIns="25400" bIns="25400">
            <a:spAutoFit/>
          </a:bodyPr>
          <a:lstStyle/>
          <a:p>
            <a:pPr algn="l"/>
            <a:r>
              <a:rPr sz="900" b="1">
                <a:solidFill>
                  <a:srgbClr val="1A897B"/>
                </a:solidFill>
                <a:latin typeface="Aptos"/>
              </a:rPr>
              <a:t>Outcome: RBI examiner can validate the change evidence.</a:t>
            </a:r>
          </a:p>
        </p:txBody>
      </p:sp>
      <p:sp>
        <p:nvSpPr>
          <p:cNvPr id="34" name="Rounded Rectangle 33"/>
          <p:cNvSpPr/>
          <p:nvPr/>
        </p:nvSpPr>
        <p:spPr>
          <a:xfrm>
            <a:off x="6153912" y="2743200"/>
            <a:ext cx="5285232" cy="1252728"/>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18503" y="2889504"/>
            <a:ext cx="4937760" cy="228600"/>
          </a:xfrm>
          <a:prstGeom prst="rect">
            <a:avLst/>
          </a:prstGeom>
          <a:noFill/>
        </p:spPr>
        <p:txBody>
          <a:bodyPr wrap="square" lIns="50800" rIns="50800" tIns="25400" bIns="25400">
            <a:spAutoFit/>
          </a:bodyPr>
          <a:lstStyle/>
          <a:p>
            <a:pPr algn="l"/>
            <a:r>
              <a:rPr sz="1300" b="1">
                <a:solidFill>
                  <a:srgbClr val="09152D"/>
                </a:solidFill>
                <a:latin typeface="Aptos"/>
              </a:rPr>
              <a:t>B. Retail algo order</a:t>
            </a:r>
          </a:p>
        </p:txBody>
      </p:sp>
      <p:sp>
        <p:nvSpPr>
          <p:cNvPr id="36" name="TextBox 35"/>
          <p:cNvSpPr txBox="1"/>
          <p:nvPr/>
        </p:nvSpPr>
        <p:spPr>
          <a:xfrm>
            <a:off x="6318503" y="3163824"/>
            <a:ext cx="4892040" cy="411480"/>
          </a:xfrm>
          <a:prstGeom prst="rect">
            <a:avLst/>
          </a:prstGeom>
          <a:noFill/>
        </p:spPr>
        <p:txBody>
          <a:bodyPr wrap="square" lIns="50800" rIns="50800" tIns="25400" bIns="25400">
            <a:spAutoFit/>
          </a:bodyPr>
          <a:lstStyle/>
          <a:p>
            <a:pPr algn="l"/>
            <a:r>
              <a:rPr sz="1000" b="0">
                <a:solidFill>
                  <a:srgbClr val="243044"/>
                </a:solidFill>
                <a:latin typeface="Aptos"/>
              </a:rPr>
              <a:t>A broker’s “Momentum50” strategy sends an order. Receipt binds the internal order reference, Algo ID, order action and timestamp.</a:t>
            </a:r>
          </a:p>
        </p:txBody>
      </p:sp>
      <p:sp>
        <p:nvSpPr>
          <p:cNvPr id="37" name="TextBox 36"/>
          <p:cNvSpPr txBox="1"/>
          <p:nvPr/>
        </p:nvSpPr>
        <p:spPr>
          <a:xfrm>
            <a:off x="6318503" y="3666744"/>
            <a:ext cx="4892040" cy="201168"/>
          </a:xfrm>
          <a:prstGeom prst="rect">
            <a:avLst/>
          </a:prstGeom>
          <a:noFill/>
        </p:spPr>
        <p:txBody>
          <a:bodyPr wrap="square" lIns="50800" rIns="50800" tIns="25400" bIns="25400">
            <a:spAutoFit/>
          </a:bodyPr>
          <a:lstStyle/>
          <a:p>
            <a:pPr algn="l"/>
            <a:r>
              <a:rPr sz="900" b="1">
                <a:solidFill>
                  <a:srgbClr val="1A897B"/>
                </a:solidFill>
                <a:latin typeface="Aptos"/>
              </a:rPr>
              <a:t>Outcome: Supports a searchable, verifiable audit package for SEBI reviews.</a:t>
            </a:r>
          </a:p>
        </p:txBody>
      </p:sp>
      <p:sp>
        <p:nvSpPr>
          <p:cNvPr id="38" name="Rounded Rectangle 37"/>
          <p:cNvSpPr/>
          <p:nvPr/>
        </p:nvSpPr>
        <p:spPr>
          <a:xfrm>
            <a:off x="502920" y="4224528"/>
            <a:ext cx="5285232" cy="1252728"/>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512" y="4370832"/>
            <a:ext cx="4937760" cy="228600"/>
          </a:xfrm>
          <a:prstGeom prst="rect">
            <a:avLst/>
          </a:prstGeom>
          <a:noFill/>
        </p:spPr>
        <p:txBody>
          <a:bodyPr wrap="square" lIns="50800" rIns="50800" tIns="25400" bIns="25400">
            <a:spAutoFit/>
          </a:bodyPr>
          <a:lstStyle/>
          <a:p>
            <a:pPr algn="l"/>
            <a:r>
              <a:rPr sz="1300" b="1">
                <a:solidFill>
                  <a:srgbClr val="09152D"/>
                </a:solidFill>
                <a:latin typeface="Aptos"/>
              </a:rPr>
              <a:t>C. Fraud-policy update</a:t>
            </a:r>
          </a:p>
        </p:txBody>
      </p:sp>
      <p:sp>
        <p:nvSpPr>
          <p:cNvPr id="40" name="TextBox 39"/>
          <p:cNvSpPr txBox="1"/>
          <p:nvPr/>
        </p:nvSpPr>
        <p:spPr>
          <a:xfrm>
            <a:off x="667512" y="4645152"/>
            <a:ext cx="4892040" cy="411480"/>
          </a:xfrm>
          <a:prstGeom prst="rect">
            <a:avLst/>
          </a:prstGeom>
          <a:noFill/>
        </p:spPr>
        <p:txBody>
          <a:bodyPr wrap="square" lIns="50800" rIns="50800" tIns="25400" bIns="25400">
            <a:spAutoFit/>
          </a:bodyPr>
          <a:lstStyle/>
          <a:p>
            <a:pPr algn="l"/>
            <a:r>
              <a:rPr sz="1000" b="0">
                <a:solidFill>
                  <a:srgbClr val="243044"/>
                </a:solidFill>
                <a:latin typeface="Aptos"/>
              </a:rPr>
              <a:t>A payments/NBFC team changes a fraud-rule threshold. Receipt records the policy version, risk approval and release reference — without storing raw customer data.</a:t>
            </a:r>
          </a:p>
        </p:txBody>
      </p:sp>
      <p:sp>
        <p:nvSpPr>
          <p:cNvPr id="41" name="TextBox 40"/>
          <p:cNvSpPr txBox="1"/>
          <p:nvPr/>
        </p:nvSpPr>
        <p:spPr>
          <a:xfrm>
            <a:off x="667512" y="5148072"/>
            <a:ext cx="4892040" cy="201168"/>
          </a:xfrm>
          <a:prstGeom prst="rect">
            <a:avLst/>
          </a:prstGeom>
          <a:noFill/>
        </p:spPr>
        <p:txBody>
          <a:bodyPr wrap="square" lIns="50800" rIns="50800" tIns="25400" bIns="25400">
            <a:spAutoFit/>
          </a:bodyPr>
          <a:lstStyle/>
          <a:p>
            <a:pPr algn="l"/>
            <a:r>
              <a:rPr sz="900" b="1">
                <a:solidFill>
                  <a:srgbClr val="1A897B"/>
                </a:solidFill>
                <a:latin typeface="Aptos"/>
              </a:rPr>
              <a:t>Outcome: Shows who authorized the control change and when.</a:t>
            </a:r>
          </a:p>
        </p:txBody>
      </p:sp>
      <p:sp>
        <p:nvSpPr>
          <p:cNvPr id="42" name="Rounded Rectangle 41"/>
          <p:cNvSpPr/>
          <p:nvPr/>
        </p:nvSpPr>
        <p:spPr>
          <a:xfrm>
            <a:off x="6153912" y="4224528"/>
            <a:ext cx="5285232" cy="1252728"/>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18503" y="4370832"/>
            <a:ext cx="4937760" cy="228600"/>
          </a:xfrm>
          <a:prstGeom prst="rect">
            <a:avLst/>
          </a:prstGeom>
          <a:noFill/>
        </p:spPr>
        <p:txBody>
          <a:bodyPr wrap="square" lIns="50800" rIns="50800" tIns="25400" bIns="25400">
            <a:spAutoFit/>
          </a:bodyPr>
          <a:lstStyle/>
          <a:p>
            <a:pPr algn="l"/>
            <a:r>
              <a:rPr sz="1300" b="1">
                <a:solidFill>
                  <a:srgbClr val="09152D"/>
                </a:solidFill>
                <a:latin typeface="Aptos"/>
              </a:rPr>
              <a:t>D. AI assistant tool grant</a:t>
            </a:r>
          </a:p>
        </p:txBody>
      </p:sp>
      <p:sp>
        <p:nvSpPr>
          <p:cNvPr id="44" name="TextBox 43"/>
          <p:cNvSpPr txBox="1"/>
          <p:nvPr/>
        </p:nvSpPr>
        <p:spPr>
          <a:xfrm>
            <a:off x="6318503" y="4645152"/>
            <a:ext cx="4892040" cy="411480"/>
          </a:xfrm>
          <a:prstGeom prst="rect">
            <a:avLst/>
          </a:prstGeom>
          <a:noFill/>
        </p:spPr>
        <p:txBody>
          <a:bodyPr wrap="square" lIns="50800" rIns="50800" tIns="25400" bIns="25400">
            <a:spAutoFit/>
          </a:bodyPr>
          <a:lstStyle/>
          <a:p>
            <a:pPr algn="l"/>
            <a:r>
              <a:rPr sz="1000" b="0">
                <a:solidFill>
                  <a:srgbClr val="243044"/>
                </a:solidFill>
                <a:latin typeface="Aptos"/>
              </a:rPr>
              <a:t>A collections assistant is given permission to call a payment-status API. Receipt binds the tool grant, policy and approver.</a:t>
            </a:r>
          </a:p>
        </p:txBody>
      </p:sp>
      <p:sp>
        <p:nvSpPr>
          <p:cNvPr id="45" name="TextBox 44"/>
          <p:cNvSpPr txBox="1"/>
          <p:nvPr/>
        </p:nvSpPr>
        <p:spPr>
          <a:xfrm>
            <a:off x="6318503" y="5148072"/>
            <a:ext cx="4892040" cy="201168"/>
          </a:xfrm>
          <a:prstGeom prst="rect">
            <a:avLst/>
          </a:prstGeom>
          <a:noFill/>
        </p:spPr>
        <p:txBody>
          <a:bodyPr wrap="square" lIns="50800" rIns="50800" tIns="25400" bIns="25400">
            <a:spAutoFit/>
          </a:bodyPr>
          <a:lstStyle/>
          <a:p>
            <a:pPr algn="l"/>
            <a:r>
              <a:rPr sz="900" b="1">
                <a:solidFill>
                  <a:srgbClr val="1A897B"/>
                </a:solidFill>
                <a:latin typeface="Aptos"/>
              </a:rPr>
              <a:t>Outcome: Creates evidence for access-control and model-governance reviews.</a:t>
            </a:r>
          </a:p>
        </p:txBody>
      </p:sp>
      <p:sp>
        <p:nvSpPr>
          <p:cNvPr id="46" name="TextBox 45"/>
          <p:cNvSpPr txBox="1"/>
          <p:nvPr/>
        </p:nvSpPr>
        <p:spPr>
          <a:xfrm>
            <a:off x="411480" y="6492240"/>
            <a:ext cx="3840480" cy="182880"/>
          </a:xfrm>
          <a:prstGeom prst="rect">
            <a:avLst/>
          </a:prstGeom>
          <a:noFill/>
        </p:spPr>
        <p:txBody>
          <a:bodyPr wrap="square" lIns="50800" rIns="50800" tIns="25400" bIns="25400">
            <a:spAutoFit/>
          </a:bodyPr>
          <a:lstStyle/>
          <a:p>
            <a:pPr algn="l"/>
            <a:r>
              <a:rPr sz="800" b="0">
                <a:solidFill>
                  <a:srgbClr val="637184"/>
                </a:solidFill>
                <a:latin typeface="Aptos"/>
              </a:rPr>
              <a:t>CooL SDK • India BFSI concept</a:t>
            </a:r>
          </a:p>
        </p:txBody>
      </p:sp>
      <p:sp>
        <p:nvSpPr>
          <p:cNvPr id="47" name="TextBox 46"/>
          <p:cNvSpPr txBox="1"/>
          <p:nvPr/>
        </p:nvSpPr>
        <p:spPr>
          <a:xfrm>
            <a:off x="6400800" y="6492240"/>
            <a:ext cx="5349240" cy="182880"/>
          </a:xfrm>
          <a:prstGeom prst="rect">
            <a:avLst/>
          </a:prstGeom>
          <a:noFill/>
        </p:spPr>
        <p:txBody>
          <a:bodyPr wrap="square" lIns="50800" rIns="50800" tIns="25400" bIns="25400">
            <a:spAutoFit/>
          </a:bodyPr>
          <a:lstStyle/>
          <a:p>
            <a:pPr algn="r"/>
            <a:r>
              <a:rPr sz="700" b="0">
                <a:solidFill>
                  <a:srgbClr val="637184"/>
                </a:solidFill>
                <a:latin typeface="Aptos"/>
              </a:rPr>
              <a:t>Product basis: CooL seals prompts, models, policies and tool grants; independent offline verification [page:10][page:11]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6FC"/>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1B8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384048"/>
            <a:ext cx="502920" cy="384048"/>
          </a:xfrm>
          <a:prstGeom prst="rect">
            <a:avLst/>
          </a:prstGeom>
          <a:noFill/>
        </p:spPr>
        <p:txBody>
          <a:bodyPr wrap="square" lIns="50800" rIns="50800" tIns="25400" bIns="25400">
            <a:spAutoFit/>
          </a:bodyPr>
          <a:lstStyle/>
          <a:p>
            <a:pPr algn="l"/>
            <a:r>
              <a:rPr sz="1400" b="1">
                <a:solidFill>
                  <a:srgbClr val="21B8D1"/>
                </a:solidFill>
                <a:latin typeface="Aptos"/>
              </a:rPr>
              <a:t>04</a:t>
            </a:r>
          </a:p>
        </p:txBody>
      </p:sp>
      <p:sp>
        <p:nvSpPr>
          <p:cNvPr id="4" name="TextBox 3"/>
          <p:cNvSpPr txBox="1"/>
          <p:nvPr/>
        </p:nvSpPr>
        <p:spPr>
          <a:xfrm>
            <a:off x="960120" y="310896"/>
            <a:ext cx="10789920" cy="502920"/>
          </a:xfrm>
          <a:prstGeom prst="rect">
            <a:avLst/>
          </a:prstGeom>
          <a:noFill/>
        </p:spPr>
        <p:txBody>
          <a:bodyPr wrap="square" lIns="50800" rIns="50800" tIns="25400" bIns="25400">
            <a:spAutoFit/>
          </a:bodyPr>
          <a:lstStyle/>
          <a:p>
            <a:pPr algn="l"/>
            <a:r>
              <a:rPr sz="2800" b="1">
                <a:solidFill>
                  <a:srgbClr val="09152D"/>
                </a:solidFill>
                <a:latin typeface="Aptos"/>
              </a:rPr>
              <a:t>How the Product Fits the Stack</a:t>
            </a:r>
          </a:p>
        </p:txBody>
      </p:sp>
      <p:sp>
        <p:nvSpPr>
          <p:cNvPr id="5" name="TextBox 4"/>
          <p:cNvSpPr txBox="1"/>
          <p:nvPr/>
        </p:nvSpPr>
        <p:spPr>
          <a:xfrm>
            <a:off x="978408" y="850392"/>
            <a:ext cx="10607040" cy="301752"/>
          </a:xfrm>
          <a:prstGeom prst="rect">
            <a:avLst/>
          </a:prstGeom>
          <a:noFill/>
        </p:spPr>
        <p:txBody>
          <a:bodyPr wrap="square" lIns="50800" rIns="50800" tIns="25400" bIns="25400">
            <a:spAutoFit/>
          </a:bodyPr>
          <a:lstStyle/>
          <a:p>
            <a:pPr algn="l"/>
            <a:r>
              <a:rPr sz="1100" b="0">
                <a:solidFill>
                  <a:srgbClr val="637184"/>
                </a:solidFill>
                <a:latin typeface="Aptos"/>
              </a:rPr>
              <a:t>CooL is the cryptographic evidence layer that runs beside existing AI, trading and compliance systems.</a:t>
            </a:r>
          </a:p>
        </p:txBody>
      </p:sp>
      <p:sp>
        <p:nvSpPr>
          <p:cNvPr id="6" name="Rounded Rectangle 5"/>
          <p:cNvSpPr/>
          <p:nvPr/>
        </p:nvSpPr>
        <p:spPr>
          <a:xfrm>
            <a:off x="1005840" y="1261872"/>
            <a:ext cx="10149840" cy="68580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05840" y="1261872"/>
            <a:ext cx="146304" cy="685800"/>
          </a:xfrm>
          <a:prstGeom prst="rect">
            <a:avLst/>
          </a:prstGeom>
          <a:solidFill>
            <a:srgbClr val="09152D"/>
          </a:solidFill>
          <a:ln>
            <a:solidFill>
              <a:srgbClr val="091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1408175"/>
            <a:ext cx="1920240" cy="210312"/>
          </a:xfrm>
          <a:prstGeom prst="rect">
            <a:avLst/>
          </a:prstGeom>
          <a:noFill/>
        </p:spPr>
        <p:txBody>
          <a:bodyPr wrap="square" lIns="50800" rIns="50800" tIns="25400" bIns="25400">
            <a:spAutoFit/>
          </a:bodyPr>
          <a:lstStyle/>
          <a:p>
            <a:pPr algn="l"/>
            <a:r>
              <a:rPr sz="1400" b="1">
                <a:solidFill>
                  <a:srgbClr val="09152D"/>
                </a:solidFill>
                <a:latin typeface="Aptos"/>
              </a:rPr>
              <a:t>Business systems</a:t>
            </a:r>
          </a:p>
        </p:txBody>
      </p:sp>
      <p:sp>
        <p:nvSpPr>
          <p:cNvPr id="9" name="TextBox 8"/>
          <p:cNvSpPr txBox="1"/>
          <p:nvPr/>
        </p:nvSpPr>
        <p:spPr>
          <a:xfrm>
            <a:off x="3337560" y="1408175"/>
            <a:ext cx="7452360" cy="274320"/>
          </a:xfrm>
          <a:prstGeom prst="rect">
            <a:avLst/>
          </a:prstGeom>
          <a:noFill/>
        </p:spPr>
        <p:txBody>
          <a:bodyPr wrap="square" lIns="50800" rIns="50800" tIns="25400" bIns="25400">
            <a:spAutoFit/>
          </a:bodyPr>
          <a:lstStyle/>
          <a:p>
            <a:pPr algn="l"/>
            <a:r>
              <a:rPr sz="1200" b="0">
                <a:solidFill>
                  <a:srgbClr val="243044"/>
                </a:solidFill>
                <a:latin typeface="Aptos"/>
              </a:rPr>
              <a:t>Credit / fraud models • Trading strategies • Customer and collections agents</a:t>
            </a:r>
          </a:p>
        </p:txBody>
      </p:sp>
      <p:sp>
        <p:nvSpPr>
          <p:cNvPr id="10" name="Rounded Rectangle 9"/>
          <p:cNvSpPr/>
          <p:nvPr/>
        </p:nvSpPr>
        <p:spPr>
          <a:xfrm>
            <a:off x="1005840" y="2112264"/>
            <a:ext cx="10149840" cy="68580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05840" y="2112264"/>
            <a:ext cx="146304" cy="685800"/>
          </a:xfrm>
          <a:prstGeom prst="rect">
            <a:avLst/>
          </a:prstGeom>
          <a:solidFill>
            <a:srgbClr val="1E60B4"/>
          </a:solidFill>
          <a:ln>
            <a:solidFill>
              <a:srgbClr val="1E60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25880" y="2258568"/>
            <a:ext cx="1920240" cy="210312"/>
          </a:xfrm>
          <a:prstGeom prst="rect">
            <a:avLst/>
          </a:prstGeom>
          <a:noFill/>
        </p:spPr>
        <p:txBody>
          <a:bodyPr wrap="square" lIns="50800" rIns="50800" tIns="25400" bIns="25400">
            <a:spAutoFit/>
          </a:bodyPr>
          <a:lstStyle/>
          <a:p>
            <a:pPr algn="l"/>
            <a:r>
              <a:rPr sz="1400" b="1">
                <a:solidFill>
                  <a:srgbClr val="09152D"/>
                </a:solidFill>
                <a:latin typeface="Aptos"/>
              </a:rPr>
              <a:t>Capture layer</a:t>
            </a:r>
          </a:p>
        </p:txBody>
      </p:sp>
      <p:sp>
        <p:nvSpPr>
          <p:cNvPr id="13" name="TextBox 12"/>
          <p:cNvSpPr txBox="1"/>
          <p:nvPr/>
        </p:nvSpPr>
        <p:spPr>
          <a:xfrm>
            <a:off x="3337560" y="2258568"/>
            <a:ext cx="7452360" cy="274320"/>
          </a:xfrm>
          <a:prstGeom prst="rect">
            <a:avLst/>
          </a:prstGeom>
          <a:noFill/>
        </p:spPr>
        <p:txBody>
          <a:bodyPr wrap="square" lIns="50800" rIns="50800" tIns="25400" bIns="25400">
            <a:spAutoFit/>
          </a:bodyPr>
          <a:lstStyle/>
          <a:p>
            <a:pPr algn="l"/>
            <a:r>
              <a:rPr sz="1200" b="0">
                <a:solidFill>
                  <a:srgbClr val="243044"/>
                </a:solidFill>
                <a:latin typeface="Aptos"/>
              </a:rPr>
              <a:t>CooL SDK / deployment hook records an approved change or defined event</a:t>
            </a:r>
          </a:p>
        </p:txBody>
      </p:sp>
      <p:sp>
        <p:nvSpPr>
          <p:cNvPr id="14" name="Rounded Rectangle 13"/>
          <p:cNvSpPr/>
          <p:nvPr/>
        </p:nvSpPr>
        <p:spPr>
          <a:xfrm>
            <a:off x="1005840" y="2962656"/>
            <a:ext cx="10149840" cy="68580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05840" y="2962656"/>
            <a:ext cx="146304" cy="685800"/>
          </a:xfrm>
          <a:prstGeom prst="rect">
            <a:avLst/>
          </a:prstGeom>
          <a:solidFill>
            <a:srgbClr val="1A897B"/>
          </a:solidFill>
          <a:ln>
            <a:solidFill>
              <a:srgbClr val="1A89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25880" y="3108960"/>
            <a:ext cx="1920240" cy="210312"/>
          </a:xfrm>
          <a:prstGeom prst="rect">
            <a:avLst/>
          </a:prstGeom>
          <a:noFill/>
        </p:spPr>
        <p:txBody>
          <a:bodyPr wrap="square" lIns="50800" rIns="50800" tIns="25400" bIns="25400">
            <a:spAutoFit/>
          </a:bodyPr>
          <a:lstStyle/>
          <a:p>
            <a:pPr algn="l"/>
            <a:r>
              <a:rPr sz="1400" b="1">
                <a:solidFill>
                  <a:srgbClr val="09152D"/>
                </a:solidFill>
                <a:latin typeface="Aptos"/>
              </a:rPr>
              <a:t>Proof layer</a:t>
            </a:r>
          </a:p>
        </p:txBody>
      </p:sp>
      <p:sp>
        <p:nvSpPr>
          <p:cNvPr id="17" name="TextBox 16"/>
          <p:cNvSpPr txBox="1"/>
          <p:nvPr/>
        </p:nvSpPr>
        <p:spPr>
          <a:xfrm>
            <a:off x="3337560" y="3108960"/>
            <a:ext cx="7452360" cy="274320"/>
          </a:xfrm>
          <a:prstGeom prst="rect">
            <a:avLst/>
          </a:prstGeom>
          <a:noFill/>
        </p:spPr>
        <p:txBody>
          <a:bodyPr wrap="square" lIns="50800" rIns="50800" tIns="25400" bIns="25400">
            <a:spAutoFit/>
          </a:bodyPr>
          <a:lstStyle/>
          <a:p>
            <a:pPr algn="l"/>
            <a:r>
              <a:rPr sz="1200" b="0">
                <a:solidFill>
                  <a:srgbClr val="243044"/>
                </a:solidFill>
                <a:latin typeface="Aptos"/>
              </a:rPr>
              <a:t>Deterministic CBOR → SHA-256 commitment → ML-DSA-65 + Ed25519 seal</a:t>
            </a:r>
          </a:p>
        </p:txBody>
      </p:sp>
      <p:sp>
        <p:nvSpPr>
          <p:cNvPr id="18" name="Rounded Rectangle 17"/>
          <p:cNvSpPr/>
          <p:nvPr/>
        </p:nvSpPr>
        <p:spPr>
          <a:xfrm>
            <a:off x="1005840" y="3813048"/>
            <a:ext cx="10149840" cy="68580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05840" y="3813048"/>
            <a:ext cx="146304" cy="685800"/>
          </a:xfrm>
          <a:prstGeom prst="rect">
            <a:avLst/>
          </a:prstGeom>
          <a:solidFill>
            <a:srgbClr val="EE8D37"/>
          </a:solidFill>
          <a:ln>
            <a:solidFill>
              <a:srgbClr val="EE8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59352"/>
            <a:ext cx="1920240" cy="210312"/>
          </a:xfrm>
          <a:prstGeom prst="rect">
            <a:avLst/>
          </a:prstGeom>
          <a:noFill/>
        </p:spPr>
        <p:txBody>
          <a:bodyPr wrap="square" lIns="50800" rIns="50800" tIns="25400" bIns="25400">
            <a:spAutoFit/>
          </a:bodyPr>
          <a:lstStyle/>
          <a:p>
            <a:pPr algn="l"/>
            <a:r>
              <a:rPr sz="1400" b="1">
                <a:solidFill>
                  <a:srgbClr val="09152D"/>
                </a:solidFill>
                <a:latin typeface="Aptos"/>
              </a:rPr>
              <a:t>Evidence layer</a:t>
            </a:r>
          </a:p>
        </p:txBody>
      </p:sp>
      <p:sp>
        <p:nvSpPr>
          <p:cNvPr id="21" name="TextBox 20"/>
          <p:cNvSpPr txBox="1"/>
          <p:nvPr/>
        </p:nvSpPr>
        <p:spPr>
          <a:xfrm>
            <a:off x="3337560" y="3959352"/>
            <a:ext cx="7452360" cy="274320"/>
          </a:xfrm>
          <a:prstGeom prst="rect">
            <a:avLst/>
          </a:prstGeom>
          <a:noFill/>
        </p:spPr>
        <p:txBody>
          <a:bodyPr wrap="square" lIns="50800" rIns="50800" tIns="25400" bIns="25400">
            <a:spAutoFit/>
          </a:bodyPr>
          <a:lstStyle/>
          <a:p>
            <a:pPr algn="l"/>
            <a:r>
              <a:rPr sz="1200" b="0">
                <a:solidFill>
                  <a:srgbClr val="243044"/>
                </a:solidFill>
                <a:latin typeface="Aptos"/>
              </a:rPr>
              <a:t>RFC 6962 transparency log → portable receipt → retention archive</a:t>
            </a:r>
          </a:p>
        </p:txBody>
      </p:sp>
      <p:sp>
        <p:nvSpPr>
          <p:cNvPr id="22" name="Rounded Rectangle 21"/>
          <p:cNvSpPr/>
          <p:nvPr/>
        </p:nvSpPr>
        <p:spPr>
          <a:xfrm>
            <a:off x="1005840" y="4663440"/>
            <a:ext cx="10149840" cy="68580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05840" y="4663440"/>
            <a:ext cx="146304" cy="685800"/>
          </a:xfrm>
          <a:prstGeom prst="rect">
            <a:avLst/>
          </a:prstGeom>
          <a:solidFill>
            <a:srgbClr val="1EA16F"/>
          </a:solidFill>
          <a:ln>
            <a:solidFill>
              <a:srgbClr val="1EA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4809744"/>
            <a:ext cx="1920240" cy="210312"/>
          </a:xfrm>
          <a:prstGeom prst="rect">
            <a:avLst/>
          </a:prstGeom>
          <a:noFill/>
        </p:spPr>
        <p:txBody>
          <a:bodyPr wrap="square" lIns="50800" rIns="50800" tIns="25400" bIns="25400">
            <a:spAutoFit/>
          </a:bodyPr>
          <a:lstStyle/>
          <a:p>
            <a:pPr algn="l"/>
            <a:r>
              <a:rPr sz="1400" b="1">
                <a:solidFill>
                  <a:srgbClr val="09152D"/>
                </a:solidFill>
                <a:latin typeface="Aptos"/>
              </a:rPr>
              <a:t>Verification</a:t>
            </a:r>
          </a:p>
        </p:txBody>
      </p:sp>
      <p:sp>
        <p:nvSpPr>
          <p:cNvPr id="25" name="TextBox 24"/>
          <p:cNvSpPr txBox="1"/>
          <p:nvPr/>
        </p:nvSpPr>
        <p:spPr>
          <a:xfrm>
            <a:off x="3337560" y="4809744"/>
            <a:ext cx="7452360" cy="274320"/>
          </a:xfrm>
          <a:prstGeom prst="rect">
            <a:avLst/>
          </a:prstGeom>
          <a:noFill/>
        </p:spPr>
        <p:txBody>
          <a:bodyPr wrap="square" lIns="50800" rIns="50800" tIns="25400" bIns="25400">
            <a:spAutoFit/>
          </a:bodyPr>
          <a:lstStyle/>
          <a:p>
            <a:pPr algn="l"/>
            <a:r>
              <a:rPr sz="1200" b="0">
                <a:solidFill>
                  <a:srgbClr val="243044"/>
                </a:solidFill>
                <a:latin typeface="Aptos"/>
              </a:rPr>
              <a:t>Internal audit • RBI/SEBI examiner • external assessor runs offline verification</a:t>
            </a:r>
          </a:p>
        </p:txBody>
      </p:sp>
      <p:sp>
        <p:nvSpPr>
          <p:cNvPr id="26" name="Rounded Rectangle 25"/>
          <p:cNvSpPr/>
          <p:nvPr/>
        </p:nvSpPr>
        <p:spPr>
          <a:xfrm>
            <a:off x="822960" y="5559552"/>
            <a:ext cx="10561320" cy="621792"/>
          </a:xfrm>
          <a:prstGeom prst="roundRect">
            <a:avLst/>
          </a:prstGeom>
          <a:solidFill>
            <a:srgbClr val="E7F7F3"/>
          </a:solidFill>
          <a:ln>
            <a:solidFill>
              <a:srgbClr val="A7DA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1560" y="5733288"/>
            <a:ext cx="2194560" cy="219456"/>
          </a:xfrm>
          <a:prstGeom prst="rect">
            <a:avLst/>
          </a:prstGeom>
          <a:noFill/>
        </p:spPr>
        <p:txBody>
          <a:bodyPr wrap="square" lIns="50800" rIns="50800" tIns="25400" bIns="25400">
            <a:spAutoFit/>
          </a:bodyPr>
          <a:lstStyle/>
          <a:p>
            <a:pPr algn="l"/>
            <a:r>
              <a:rPr sz="1100" b="1">
                <a:solidFill>
                  <a:srgbClr val="1A897B"/>
                </a:solidFill>
                <a:latin typeface="Aptos"/>
              </a:rPr>
              <a:t>Important scope boundary:</a:t>
            </a:r>
          </a:p>
        </p:txBody>
      </p:sp>
      <p:sp>
        <p:nvSpPr>
          <p:cNvPr id="28" name="TextBox 27"/>
          <p:cNvSpPr txBox="1"/>
          <p:nvPr/>
        </p:nvSpPr>
        <p:spPr>
          <a:xfrm>
            <a:off x="3108960" y="5641848"/>
            <a:ext cx="7909560" cy="384048"/>
          </a:xfrm>
          <a:prstGeom prst="rect">
            <a:avLst/>
          </a:prstGeom>
          <a:noFill/>
        </p:spPr>
        <p:txBody>
          <a:bodyPr wrap="square" lIns="50800" rIns="50800" tIns="25400" bIns="25400">
            <a:spAutoFit/>
          </a:bodyPr>
          <a:lstStyle/>
          <a:p>
            <a:pPr algn="l"/>
            <a:r>
              <a:rPr sz="1000" b="0">
                <a:solidFill>
                  <a:srgbClr val="243044"/>
                </a:solidFill>
                <a:latin typeface="Aptos"/>
              </a:rPr>
              <a:t>CooL proves a captured record was cryptographically bound and logged; it does not by itself prove that the record includes every required regulatory field, that the model decision was correct, or that a specific model physically executed. Those controls need workflow, integration and—where required—hardware attestation.</a:t>
            </a:r>
          </a:p>
        </p:txBody>
      </p:sp>
      <p:sp>
        <p:nvSpPr>
          <p:cNvPr id="29" name="TextBox 28"/>
          <p:cNvSpPr txBox="1"/>
          <p:nvPr/>
        </p:nvSpPr>
        <p:spPr>
          <a:xfrm>
            <a:off x="411480" y="6492240"/>
            <a:ext cx="3840480" cy="182880"/>
          </a:xfrm>
          <a:prstGeom prst="rect">
            <a:avLst/>
          </a:prstGeom>
          <a:noFill/>
        </p:spPr>
        <p:txBody>
          <a:bodyPr wrap="square" lIns="50800" rIns="50800" tIns="25400" bIns="25400">
            <a:spAutoFit/>
          </a:bodyPr>
          <a:lstStyle/>
          <a:p>
            <a:pPr algn="l"/>
            <a:r>
              <a:rPr sz="800" b="0">
                <a:solidFill>
                  <a:srgbClr val="637184"/>
                </a:solidFill>
                <a:latin typeface="Aptos"/>
              </a:rPr>
              <a:t>CooL SDK • India BFSI concept</a:t>
            </a:r>
          </a:p>
        </p:txBody>
      </p:sp>
      <p:sp>
        <p:nvSpPr>
          <p:cNvPr id="30" name="TextBox 29"/>
          <p:cNvSpPr txBox="1"/>
          <p:nvPr/>
        </p:nvSpPr>
        <p:spPr>
          <a:xfrm>
            <a:off x="6400800" y="6492240"/>
            <a:ext cx="5349240" cy="182880"/>
          </a:xfrm>
          <a:prstGeom prst="rect">
            <a:avLst/>
          </a:prstGeom>
          <a:noFill/>
        </p:spPr>
        <p:txBody>
          <a:bodyPr wrap="square" lIns="50800" rIns="50800" tIns="25400" bIns="25400">
            <a:spAutoFit/>
          </a:bodyPr>
          <a:lstStyle/>
          <a:p>
            <a:pPr algn="r"/>
            <a:r>
              <a:rPr sz="700" b="0">
                <a:solidFill>
                  <a:srgbClr val="637184"/>
                </a:solidFill>
                <a:latin typeface="Aptos"/>
              </a:rPr>
              <a:t>Product docs: deterministic CBOR, SHA-256, hybrid signatures, transparency log and offline verifier [web:9][page:11]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6FC"/>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21B8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384048"/>
            <a:ext cx="502920" cy="384048"/>
          </a:xfrm>
          <a:prstGeom prst="rect">
            <a:avLst/>
          </a:prstGeom>
          <a:noFill/>
        </p:spPr>
        <p:txBody>
          <a:bodyPr wrap="square" lIns="50800" rIns="50800" tIns="25400" bIns="25400">
            <a:spAutoFit/>
          </a:bodyPr>
          <a:lstStyle/>
          <a:p>
            <a:pPr algn="l"/>
            <a:r>
              <a:rPr sz="1400" b="1">
                <a:solidFill>
                  <a:srgbClr val="21B8D1"/>
                </a:solidFill>
                <a:latin typeface="Aptos"/>
              </a:rPr>
              <a:t>05</a:t>
            </a:r>
          </a:p>
        </p:txBody>
      </p:sp>
      <p:sp>
        <p:nvSpPr>
          <p:cNvPr id="4" name="TextBox 3"/>
          <p:cNvSpPr txBox="1"/>
          <p:nvPr/>
        </p:nvSpPr>
        <p:spPr>
          <a:xfrm>
            <a:off x="960120" y="310896"/>
            <a:ext cx="10789920" cy="502920"/>
          </a:xfrm>
          <a:prstGeom prst="rect">
            <a:avLst/>
          </a:prstGeom>
          <a:noFill/>
        </p:spPr>
        <p:txBody>
          <a:bodyPr wrap="square" lIns="50800" rIns="50800" tIns="25400" bIns="25400">
            <a:spAutoFit/>
          </a:bodyPr>
          <a:lstStyle/>
          <a:p>
            <a:pPr algn="l"/>
            <a:r>
              <a:rPr sz="2800" b="1">
                <a:solidFill>
                  <a:srgbClr val="09152D"/>
                </a:solidFill>
                <a:latin typeface="Aptos"/>
              </a:rPr>
              <a:t>Impact, Buyers and Next Steps</a:t>
            </a:r>
          </a:p>
        </p:txBody>
      </p:sp>
      <p:sp>
        <p:nvSpPr>
          <p:cNvPr id="5" name="TextBox 4"/>
          <p:cNvSpPr txBox="1"/>
          <p:nvPr/>
        </p:nvSpPr>
        <p:spPr>
          <a:xfrm>
            <a:off x="978408" y="850392"/>
            <a:ext cx="10607040" cy="301752"/>
          </a:xfrm>
          <a:prstGeom prst="rect">
            <a:avLst/>
          </a:prstGeom>
          <a:noFill/>
        </p:spPr>
        <p:txBody>
          <a:bodyPr wrap="square" lIns="50800" rIns="50800" tIns="25400" bIns="25400">
            <a:spAutoFit/>
          </a:bodyPr>
          <a:lstStyle/>
          <a:p>
            <a:pPr algn="l"/>
            <a:r>
              <a:rPr sz="1100" b="0">
                <a:solidFill>
                  <a:srgbClr val="637184"/>
                </a:solidFill>
                <a:latin typeface="Aptos"/>
              </a:rPr>
              <a:t>Start where the requirement is clearest: Indian brokers and regulated financial institutions with high AI change velocity.</a:t>
            </a:r>
          </a:p>
        </p:txBody>
      </p:sp>
      <p:sp>
        <p:nvSpPr>
          <p:cNvPr id="6" name="Rounded Rectangle 5"/>
          <p:cNvSpPr/>
          <p:nvPr/>
        </p:nvSpPr>
        <p:spPr>
          <a:xfrm>
            <a:off x="502920" y="1325880"/>
            <a:ext cx="3520440" cy="352044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25880"/>
            <a:ext cx="3520440" cy="91440"/>
          </a:xfrm>
          <a:prstGeom prst="rect">
            <a:avLst/>
          </a:prstGeom>
          <a:solidFill>
            <a:srgbClr val="1EA16F"/>
          </a:solidFill>
          <a:ln>
            <a:solidFill>
              <a:srgbClr val="1EA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490472"/>
            <a:ext cx="3191256" cy="292608"/>
          </a:xfrm>
          <a:prstGeom prst="rect">
            <a:avLst/>
          </a:prstGeom>
          <a:noFill/>
        </p:spPr>
        <p:txBody>
          <a:bodyPr wrap="square" lIns="50800" rIns="50800" tIns="25400" bIns="25400">
            <a:spAutoFit/>
          </a:bodyPr>
          <a:lstStyle/>
          <a:p>
            <a:pPr algn="l"/>
            <a:r>
              <a:rPr sz="1500" b="1">
                <a:solidFill>
                  <a:srgbClr val="09152D"/>
                </a:solidFill>
                <a:latin typeface="Aptos"/>
              </a:rPr>
              <a:t>Expected impact</a:t>
            </a:r>
          </a:p>
        </p:txBody>
      </p:sp>
      <p:sp>
        <p:nvSpPr>
          <p:cNvPr id="9" name="TextBox 8"/>
          <p:cNvSpPr txBox="1"/>
          <p:nvPr/>
        </p:nvSpPr>
        <p:spPr>
          <a:xfrm>
            <a:off x="667512" y="1856231"/>
            <a:ext cx="146304" cy="228600"/>
          </a:xfrm>
          <a:prstGeom prst="rect">
            <a:avLst/>
          </a:prstGeom>
          <a:noFill/>
        </p:spPr>
        <p:txBody>
          <a:bodyPr wrap="square" lIns="50800" rIns="50800" tIns="25400" bIns="25400">
            <a:spAutoFit/>
          </a:bodyPr>
          <a:lstStyle/>
          <a:p>
            <a:pPr algn="l"/>
            <a:r>
              <a:rPr sz="1500" b="1">
                <a:solidFill>
                  <a:srgbClr val="1EA16F"/>
                </a:solidFill>
                <a:latin typeface="Aptos"/>
              </a:rPr>
              <a:t>•</a:t>
            </a:r>
          </a:p>
        </p:txBody>
      </p:sp>
      <p:sp>
        <p:nvSpPr>
          <p:cNvPr id="10" name="TextBox 9"/>
          <p:cNvSpPr txBox="1"/>
          <p:nvPr/>
        </p:nvSpPr>
        <p:spPr>
          <a:xfrm>
            <a:off x="859536" y="1856231"/>
            <a:ext cx="3008376" cy="429768"/>
          </a:xfrm>
          <a:prstGeom prst="rect">
            <a:avLst/>
          </a:prstGeom>
          <a:noFill/>
        </p:spPr>
        <p:txBody>
          <a:bodyPr wrap="square" lIns="50800" rIns="50800" tIns="25400" bIns="25400">
            <a:spAutoFit/>
          </a:bodyPr>
          <a:lstStyle/>
          <a:p>
            <a:pPr algn="l"/>
            <a:r>
              <a:rPr sz="1100" b="0">
                <a:solidFill>
                  <a:srgbClr val="243044"/>
                </a:solidFill>
                <a:latin typeface="Aptos"/>
              </a:rPr>
              <a:t>Faster production of audit evidence</a:t>
            </a:r>
          </a:p>
        </p:txBody>
      </p:sp>
      <p:sp>
        <p:nvSpPr>
          <p:cNvPr id="11" name="TextBox 10"/>
          <p:cNvSpPr txBox="1"/>
          <p:nvPr/>
        </p:nvSpPr>
        <p:spPr>
          <a:xfrm>
            <a:off x="667512" y="2359152"/>
            <a:ext cx="146304" cy="228600"/>
          </a:xfrm>
          <a:prstGeom prst="rect">
            <a:avLst/>
          </a:prstGeom>
          <a:noFill/>
        </p:spPr>
        <p:txBody>
          <a:bodyPr wrap="square" lIns="50800" rIns="50800" tIns="25400" bIns="25400">
            <a:spAutoFit/>
          </a:bodyPr>
          <a:lstStyle/>
          <a:p>
            <a:pPr algn="l"/>
            <a:r>
              <a:rPr sz="1500" b="1">
                <a:solidFill>
                  <a:srgbClr val="1EA16F"/>
                </a:solidFill>
                <a:latin typeface="Aptos"/>
              </a:rPr>
              <a:t>•</a:t>
            </a:r>
          </a:p>
        </p:txBody>
      </p:sp>
      <p:sp>
        <p:nvSpPr>
          <p:cNvPr id="12" name="TextBox 11"/>
          <p:cNvSpPr txBox="1"/>
          <p:nvPr/>
        </p:nvSpPr>
        <p:spPr>
          <a:xfrm>
            <a:off x="859536" y="2359152"/>
            <a:ext cx="3008376" cy="429768"/>
          </a:xfrm>
          <a:prstGeom prst="rect">
            <a:avLst/>
          </a:prstGeom>
          <a:noFill/>
        </p:spPr>
        <p:txBody>
          <a:bodyPr wrap="square" lIns="50800" rIns="50800" tIns="25400" bIns="25400">
            <a:spAutoFit/>
          </a:bodyPr>
          <a:lstStyle/>
          <a:p>
            <a:pPr algn="l"/>
            <a:r>
              <a:rPr sz="1100" b="0">
                <a:solidFill>
                  <a:srgbClr val="243044"/>
                </a:solidFill>
                <a:latin typeface="Aptos"/>
              </a:rPr>
              <a:t>Less manual search across tickets, emails and databases</a:t>
            </a:r>
          </a:p>
        </p:txBody>
      </p:sp>
      <p:sp>
        <p:nvSpPr>
          <p:cNvPr id="13" name="TextBox 12"/>
          <p:cNvSpPr txBox="1"/>
          <p:nvPr/>
        </p:nvSpPr>
        <p:spPr>
          <a:xfrm>
            <a:off x="667512" y="2862072"/>
            <a:ext cx="146304" cy="228600"/>
          </a:xfrm>
          <a:prstGeom prst="rect">
            <a:avLst/>
          </a:prstGeom>
          <a:noFill/>
        </p:spPr>
        <p:txBody>
          <a:bodyPr wrap="square" lIns="50800" rIns="50800" tIns="25400" bIns="25400">
            <a:spAutoFit/>
          </a:bodyPr>
          <a:lstStyle/>
          <a:p>
            <a:pPr algn="l"/>
            <a:r>
              <a:rPr sz="1500" b="1">
                <a:solidFill>
                  <a:srgbClr val="1EA16F"/>
                </a:solidFill>
                <a:latin typeface="Aptos"/>
              </a:rPr>
              <a:t>•</a:t>
            </a:r>
          </a:p>
        </p:txBody>
      </p:sp>
      <p:sp>
        <p:nvSpPr>
          <p:cNvPr id="14" name="TextBox 13"/>
          <p:cNvSpPr txBox="1"/>
          <p:nvPr/>
        </p:nvSpPr>
        <p:spPr>
          <a:xfrm>
            <a:off x="859536" y="2862072"/>
            <a:ext cx="3008376" cy="429768"/>
          </a:xfrm>
          <a:prstGeom prst="rect">
            <a:avLst/>
          </a:prstGeom>
          <a:noFill/>
        </p:spPr>
        <p:txBody>
          <a:bodyPr wrap="square" lIns="50800" rIns="50800" tIns="25400" bIns="25400">
            <a:spAutoFit/>
          </a:bodyPr>
          <a:lstStyle/>
          <a:p>
            <a:pPr algn="l"/>
            <a:r>
              <a:rPr sz="1100" b="0">
                <a:solidFill>
                  <a:srgbClr val="243044"/>
                </a:solidFill>
                <a:latin typeface="Aptos"/>
              </a:rPr>
              <a:t>Clearer ownership of model and policy changes</a:t>
            </a:r>
          </a:p>
        </p:txBody>
      </p:sp>
      <p:sp>
        <p:nvSpPr>
          <p:cNvPr id="15" name="TextBox 14"/>
          <p:cNvSpPr txBox="1"/>
          <p:nvPr/>
        </p:nvSpPr>
        <p:spPr>
          <a:xfrm>
            <a:off x="667512" y="3364991"/>
            <a:ext cx="146304" cy="228600"/>
          </a:xfrm>
          <a:prstGeom prst="rect">
            <a:avLst/>
          </a:prstGeom>
          <a:noFill/>
        </p:spPr>
        <p:txBody>
          <a:bodyPr wrap="square" lIns="50800" rIns="50800" tIns="25400" bIns="25400">
            <a:spAutoFit/>
          </a:bodyPr>
          <a:lstStyle/>
          <a:p>
            <a:pPr algn="l"/>
            <a:r>
              <a:rPr sz="1500" b="1">
                <a:solidFill>
                  <a:srgbClr val="1EA16F"/>
                </a:solidFill>
                <a:latin typeface="Aptos"/>
              </a:rPr>
              <a:t>•</a:t>
            </a:r>
          </a:p>
        </p:txBody>
      </p:sp>
      <p:sp>
        <p:nvSpPr>
          <p:cNvPr id="16" name="TextBox 15"/>
          <p:cNvSpPr txBox="1"/>
          <p:nvPr/>
        </p:nvSpPr>
        <p:spPr>
          <a:xfrm>
            <a:off x="859536" y="3364991"/>
            <a:ext cx="3008376" cy="429768"/>
          </a:xfrm>
          <a:prstGeom prst="rect">
            <a:avLst/>
          </a:prstGeom>
          <a:noFill/>
        </p:spPr>
        <p:txBody>
          <a:bodyPr wrap="square" lIns="50800" rIns="50800" tIns="25400" bIns="25400">
            <a:spAutoFit/>
          </a:bodyPr>
          <a:lstStyle/>
          <a:p>
            <a:pPr algn="l"/>
            <a:r>
              <a:rPr sz="1100" b="0">
                <a:solidFill>
                  <a:srgbClr val="243044"/>
                </a:solidFill>
                <a:latin typeface="Aptos"/>
              </a:rPr>
              <a:t>Independent validation of a receipt’s integrity</a:t>
            </a:r>
          </a:p>
        </p:txBody>
      </p:sp>
      <p:sp>
        <p:nvSpPr>
          <p:cNvPr id="17" name="TextBox 16"/>
          <p:cNvSpPr txBox="1"/>
          <p:nvPr/>
        </p:nvSpPr>
        <p:spPr>
          <a:xfrm>
            <a:off x="667512" y="3867911"/>
            <a:ext cx="146304" cy="228600"/>
          </a:xfrm>
          <a:prstGeom prst="rect">
            <a:avLst/>
          </a:prstGeom>
          <a:noFill/>
        </p:spPr>
        <p:txBody>
          <a:bodyPr wrap="square" lIns="50800" rIns="50800" tIns="25400" bIns="25400">
            <a:spAutoFit/>
          </a:bodyPr>
          <a:lstStyle/>
          <a:p>
            <a:pPr algn="l"/>
            <a:r>
              <a:rPr sz="1500" b="1">
                <a:solidFill>
                  <a:srgbClr val="1EA16F"/>
                </a:solidFill>
                <a:latin typeface="Aptos"/>
              </a:rPr>
              <a:t>•</a:t>
            </a:r>
          </a:p>
        </p:txBody>
      </p:sp>
      <p:sp>
        <p:nvSpPr>
          <p:cNvPr id="18" name="TextBox 17"/>
          <p:cNvSpPr txBox="1"/>
          <p:nvPr/>
        </p:nvSpPr>
        <p:spPr>
          <a:xfrm>
            <a:off x="859536" y="3867911"/>
            <a:ext cx="3008376" cy="429768"/>
          </a:xfrm>
          <a:prstGeom prst="rect">
            <a:avLst/>
          </a:prstGeom>
          <a:noFill/>
        </p:spPr>
        <p:txBody>
          <a:bodyPr wrap="square" lIns="50800" rIns="50800" tIns="25400" bIns="25400">
            <a:spAutoFit/>
          </a:bodyPr>
          <a:lstStyle/>
          <a:p>
            <a:pPr algn="l"/>
            <a:r>
              <a:rPr sz="1100" b="0">
                <a:solidFill>
                  <a:srgbClr val="243044"/>
                </a:solidFill>
                <a:latin typeface="Aptos"/>
              </a:rPr>
              <a:t>Stronger readiness for regulatory review</a:t>
            </a:r>
          </a:p>
        </p:txBody>
      </p:sp>
      <p:sp>
        <p:nvSpPr>
          <p:cNvPr id="19" name="Rounded Rectangle 18"/>
          <p:cNvSpPr/>
          <p:nvPr/>
        </p:nvSpPr>
        <p:spPr>
          <a:xfrm>
            <a:off x="4343400" y="1325880"/>
            <a:ext cx="3520440" cy="352044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43400" y="1325880"/>
            <a:ext cx="3520440" cy="91440"/>
          </a:xfrm>
          <a:prstGeom prst="rect">
            <a:avLst/>
          </a:prstGeom>
          <a:solidFill>
            <a:srgbClr val="1E60B4"/>
          </a:solidFill>
          <a:ln>
            <a:solidFill>
              <a:srgbClr val="1E60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07992" y="1490472"/>
            <a:ext cx="3191256" cy="292608"/>
          </a:xfrm>
          <a:prstGeom prst="rect">
            <a:avLst/>
          </a:prstGeom>
          <a:noFill/>
        </p:spPr>
        <p:txBody>
          <a:bodyPr wrap="square" lIns="50800" rIns="50800" tIns="25400" bIns="25400">
            <a:spAutoFit/>
          </a:bodyPr>
          <a:lstStyle/>
          <a:p>
            <a:pPr algn="l"/>
            <a:r>
              <a:rPr sz="1500" b="1">
                <a:solidFill>
                  <a:srgbClr val="09152D"/>
                </a:solidFill>
                <a:latin typeface="Aptos"/>
              </a:rPr>
              <a:t>Initial buyers</a:t>
            </a:r>
          </a:p>
        </p:txBody>
      </p:sp>
      <p:sp>
        <p:nvSpPr>
          <p:cNvPr id="22" name="TextBox 21"/>
          <p:cNvSpPr txBox="1"/>
          <p:nvPr/>
        </p:nvSpPr>
        <p:spPr>
          <a:xfrm>
            <a:off x="4507992" y="1856231"/>
            <a:ext cx="146304" cy="228600"/>
          </a:xfrm>
          <a:prstGeom prst="rect">
            <a:avLst/>
          </a:prstGeom>
          <a:noFill/>
        </p:spPr>
        <p:txBody>
          <a:bodyPr wrap="square" lIns="50800" rIns="50800" tIns="25400" bIns="25400">
            <a:spAutoFit/>
          </a:bodyPr>
          <a:lstStyle/>
          <a:p>
            <a:pPr algn="l"/>
            <a:r>
              <a:rPr sz="1500" b="1">
                <a:solidFill>
                  <a:srgbClr val="1E60B4"/>
                </a:solidFill>
                <a:latin typeface="Aptos"/>
              </a:rPr>
              <a:t>•</a:t>
            </a:r>
          </a:p>
        </p:txBody>
      </p:sp>
      <p:sp>
        <p:nvSpPr>
          <p:cNvPr id="23" name="TextBox 22"/>
          <p:cNvSpPr txBox="1"/>
          <p:nvPr/>
        </p:nvSpPr>
        <p:spPr>
          <a:xfrm>
            <a:off x="4700016" y="1856231"/>
            <a:ext cx="3008376" cy="429768"/>
          </a:xfrm>
          <a:prstGeom prst="rect">
            <a:avLst/>
          </a:prstGeom>
          <a:noFill/>
        </p:spPr>
        <p:txBody>
          <a:bodyPr wrap="square" lIns="50800" rIns="50800" tIns="25400" bIns="25400">
            <a:spAutoFit/>
          </a:bodyPr>
          <a:lstStyle/>
          <a:p>
            <a:pPr algn="l"/>
            <a:r>
              <a:rPr sz="1100" b="0">
                <a:solidFill>
                  <a:srgbClr val="243044"/>
                </a:solidFill>
                <a:latin typeface="Aptos"/>
              </a:rPr>
              <a:t>Brokers operating retail algo platforms</a:t>
            </a:r>
          </a:p>
        </p:txBody>
      </p:sp>
      <p:sp>
        <p:nvSpPr>
          <p:cNvPr id="24" name="TextBox 23"/>
          <p:cNvSpPr txBox="1"/>
          <p:nvPr/>
        </p:nvSpPr>
        <p:spPr>
          <a:xfrm>
            <a:off x="4507992" y="2359152"/>
            <a:ext cx="146304" cy="228600"/>
          </a:xfrm>
          <a:prstGeom prst="rect">
            <a:avLst/>
          </a:prstGeom>
          <a:noFill/>
        </p:spPr>
        <p:txBody>
          <a:bodyPr wrap="square" lIns="50800" rIns="50800" tIns="25400" bIns="25400">
            <a:spAutoFit/>
          </a:bodyPr>
          <a:lstStyle/>
          <a:p>
            <a:pPr algn="l"/>
            <a:r>
              <a:rPr sz="1500" b="1">
                <a:solidFill>
                  <a:srgbClr val="1E60B4"/>
                </a:solidFill>
                <a:latin typeface="Aptos"/>
              </a:rPr>
              <a:t>•</a:t>
            </a:r>
          </a:p>
        </p:txBody>
      </p:sp>
      <p:sp>
        <p:nvSpPr>
          <p:cNvPr id="25" name="TextBox 24"/>
          <p:cNvSpPr txBox="1"/>
          <p:nvPr/>
        </p:nvSpPr>
        <p:spPr>
          <a:xfrm>
            <a:off x="4700016" y="2359152"/>
            <a:ext cx="3008376" cy="429768"/>
          </a:xfrm>
          <a:prstGeom prst="rect">
            <a:avLst/>
          </a:prstGeom>
          <a:noFill/>
        </p:spPr>
        <p:txBody>
          <a:bodyPr wrap="square" lIns="50800" rIns="50800" tIns="25400" bIns="25400">
            <a:spAutoFit/>
          </a:bodyPr>
          <a:lstStyle/>
          <a:p>
            <a:pPr algn="l"/>
            <a:r>
              <a:rPr sz="1100" b="0">
                <a:solidFill>
                  <a:srgbClr val="243044"/>
                </a:solidFill>
                <a:latin typeface="Aptos"/>
              </a:rPr>
              <a:t>Private banks and large NBFCs</a:t>
            </a:r>
          </a:p>
        </p:txBody>
      </p:sp>
      <p:sp>
        <p:nvSpPr>
          <p:cNvPr id="26" name="TextBox 25"/>
          <p:cNvSpPr txBox="1"/>
          <p:nvPr/>
        </p:nvSpPr>
        <p:spPr>
          <a:xfrm>
            <a:off x="4507992" y="2862072"/>
            <a:ext cx="146304" cy="228600"/>
          </a:xfrm>
          <a:prstGeom prst="rect">
            <a:avLst/>
          </a:prstGeom>
          <a:noFill/>
        </p:spPr>
        <p:txBody>
          <a:bodyPr wrap="square" lIns="50800" rIns="50800" tIns="25400" bIns="25400">
            <a:spAutoFit/>
          </a:bodyPr>
          <a:lstStyle/>
          <a:p>
            <a:pPr algn="l"/>
            <a:r>
              <a:rPr sz="1500" b="1">
                <a:solidFill>
                  <a:srgbClr val="1E60B4"/>
                </a:solidFill>
                <a:latin typeface="Aptos"/>
              </a:rPr>
              <a:t>•</a:t>
            </a:r>
          </a:p>
        </p:txBody>
      </p:sp>
      <p:sp>
        <p:nvSpPr>
          <p:cNvPr id="27" name="TextBox 26"/>
          <p:cNvSpPr txBox="1"/>
          <p:nvPr/>
        </p:nvSpPr>
        <p:spPr>
          <a:xfrm>
            <a:off x="4700016" y="2862072"/>
            <a:ext cx="3008376" cy="429768"/>
          </a:xfrm>
          <a:prstGeom prst="rect">
            <a:avLst/>
          </a:prstGeom>
          <a:noFill/>
        </p:spPr>
        <p:txBody>
          <a:bodyPr wrap="square" lIns="50800" rIns="50800" tIns="25400" bIns="25400">
            <a:spAutoFit/>
          </a:bodyPr>
          <a:lstStyle/>
          <a:p>
            <a:pPr algn="l"/>
            <a:r>
              <a:rPr sz="1100" b="0">
                <a:solidFill>
                  <a:srgbClr val="243044"/>
                </a:solidFill>
                <a:latin typeface="Aptos"/>
              </a:rPr>
              <a:t>Payment and fraud-risk platforms</a:t>
            </a:r>
          </a:p>
        </p:txBody>
      </p:sp>
      <p:sp>
        <p:nvSpPr>
          <p:cNvPr id="28" name="TextBox 27"/>
          <p:cNvSpPr txBox="1"/>
          <p:nvPr/>
        </p:nvSpPr>
        <p:spPr>
          <a:xfrm>
            <a:off x="4507992" y="3364991"/>
            <a:ext cx="146304" cy="228600"/>
          </a:xfrm>
          <a:prstGeom prst="rect">
            <a:avLst/>
          </a:prstGeom>
          <a:noFill/>
        </p:spPr>
        <p:txBody>
          <a:bodyPr wrap="square" lIns="50800" rIns="50800" tIns="25400" bIns="25400">
            <a:spAutoFit/>
          </a:bodyPr>
          <a:lstStyle/>
          <a:p>
            <a:pPr algn="l"/>
            <a:r>
              <a:rPr sz="1500" b="1">
                <a:solidFill>
                  <a:srgbClr val="1E60B4"/>
                </a:solidFill>
                <a:latin typeface="Aptos"/>
              </a:rPr>
              <a:t>•</a:t>
            </a:r>
          </a:p>
        </p:txBody>
      </p:sp>
      <p:sp>
        <p:nvSpPr>
          <p:cNvPr id="29" name="TextBox 28"/>
          <p:cNvSpPr txBox="1"/>
          <p:nvPr/>
        </p:nvSpPr>
        <p:spPr>
          <a:xfrm>
            <a:off x="4700016" y="3364991"/>
            <a:ext cx="3008376" cy="429768"/>
          </a:xfrm>
          <a:prstGeom prst="rect">
            <a:avLst/>
          </a:prstGeom>
          <a:noFill/>
        </p:spPr>
        <p:txBody>
          <a:bodyPr wrap="square" lIns="50800" rIns="50800" tIns="25400" bIns="25400">
            <a:spAutoFit/>
          </a:bodyPr>
          <a:lstStyle/>
          <a:p>
            <a:pPr algn="l"/>
            <a:r>
              <a:rPr sz="1100" b="0">
                <a:solidFill>
                  <a:srgbClr val="243044"/>
                </a:solidFill>
                <a:latin typeface="Aptos"/>
              </a:rPr>
              <a:t>Insurers preparing for AI governance</a:t>
            </a:r>
          </a:p>
        </p:txBody>
      </p:sp>
      <p:sp>
        <p:nvSpPr>
          <p:cNvPr id="30" name="TextBox 29"/>
          <p:cNvSpPr txBox="1"/>
          <p:nvPr/>
        </p:nvSpPr>
        <p:spPr>
          <a:xfrm>
            <a:off x="4507992" y="3867911"/>
            <a:ext cx="146304" cy="228600"/>
          </a:xfrm>
          <a:prstGeom prst="rect">
            <a:avLst/>
          </a:prstGeom>
          <a:noFill/>
        </p:spPr>
        <p:txBody>
          <a:bodyPr wrap="square" lIns="50800" rIns="50800" tIns="25400" bIns="25400">
            <a:spAutoFit/>
          </a:bodyPr>
          <a:lstStyle/>
          <a:p>
            <a:pPr algn="l"/>
            <a:r>
              <a:rPr sz="1500" b="1">
                <a:solidFill>
                  <a:srgbClr val="1E60B4"/>
                </a:solidFill>
                <a:latin typeface="Aptos"/>
              </a:rPr>
              <a:t>•</a:t>
            </a:r>
          </a:p>
        </p:txBody>
      </p:sp>
      <p:sp>
        <p:nvSpPr>
          <p:cNvPr id="31" name="TextBox 30"/>
          <p:cNvSpPr txBox="1"/>
          <p:nvPr/>
        </p:nvSpPr>
        <p:spPr>
          <a:xfrm>
            <a:off x="4700016" y="3867911"/>
            <a:ext cx="3008376" cy="429768"/>
          </a:xfrm>
          <a:prstGeom prst="rect">
            <a:avLst/>
          </a:prstGeom>
          <a:noFill/>
        </p:spPr>
        <p:txBody>
          <a:bodyPr wrap="square" lIns="50800" rIns="50800" tIns="25400" bIns="25400">
            <a:spAutoFit/>
          </a:bodyPr>
          <a:lstStyle/>
          <a:p>
            <a:pPr algn="l"/>
            <a:r>
              <a:rPr sz="1100" b="0">
                <a:solidFill>
                  <a:srgbClr val="243044"/>
                </a:solidFill>
                <a:latin typeface="Aptos"/>
              </a:rPr>
              <a:t>Internal-audit and compliance teams</a:t>
            </a:r>
          </a:p>
        </p:txBody>
      </p:sp>
      <p:sp>
        <p:nvSpPr>
          <p:cNvPr id="32" name="Rounded Rectangle 31"/>
          <p:cNvSpPr/>
          <p:nvPr/>
        </p:nvSpPr>
        <p:spPr>
          <a:xfrm>
            <a:off x="8183879" y="1325880"/>
            <a:ext cx="3520440" cy="3520440"/>
          </a:xfrm>
          <a:prstGeom prst="roundRect">
            <a:avLst/>
          </a:prstGeom>
          <a:solidFill>
            <a:srgbClr val="FFFFFF"/>
          </a:solidFill>
          <a:ln>
            <a:solidFill>
              <a:srgbClr val="D5D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83879" y="1325880"/>
            <a:ext cx="3520440" cy="91440"/>
          </a:xfrm>
          <a:prstGeom prst="rect">
            <a:avLst/>
          </a:prstGeom>
          <a:solidFill>
            <a:srgbClr val="EE8D37"/>
          </a:solidFill>
          <a:ln>
            <a:solidFill>
              <a:srgbClr val="EE8D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48471" y="1490472"/>
            <a:ext cx="3191256" cy="292608"/>
          </a:xfrm>
          <a:prstGeom prst="rect">
            <a:avLst/>
          </a:prstGeom>
          <a:noFill/>
        </p:spPr>
        <p:txBody>
          <a:bodyPr wrap="square" lIns="50800" rIns="50800" tIns="25400" bIns="25400">
            <a:spAutoFit/>
          </a:bodyPr>
          <a:lstStyle/>
          <a:p>
            <a:pPr algn="l"/>
            <a:r>
              <a:rPr sz="1500" b="1">
                <a:solidFill>
                  <a:srgbClr val="09152D"/>
                </a:solidFill>
                <a:latin typeface="Aptos"/>
              </a:rPr>
              <a:t>Pilot plan</a:t>
            </a:r>
          </a:p>
        </p:txBody>
      </p:sp>
      <p:sp>
        <p:nvSpPr>
          <p:cNvPr id="35" name="TextBox 34"/>
          <p:cNvSpPr txBox="1"/>
          <p:nvPr/>
        </p:nvSpPr>
        <p:spPr>
          <a:xfrm>
            <a:off x="8348471" y="1856231"/>
            <a:ext cx="146304" cy="228600"/>
          </a:xfrm>
          <a:prstGeom prst="rect">
            <a:avLst/>
          </a:prstGeom>
          <a:noFill/>
        </p:spPr>
        <p:txBody>
          <a:bodyPr wrap="square" lIns="50800" rIns="50800" tIns="25400" bIns="25400">
            <a:spAutoFit/>
          </a:bodyPr>
          <a:lstStyle/>
          <a:p>
            <a:pPr algn="l"/>
            <a:r>
              <a:rPr sz="1500" b="1">
                <a:solidFill>
                  <a:srgbClr val="EE8D37"/>
                </a:solidFill>
                <a:latin typeface="Aptos"/>
              </a:rPr>
              <a:t>•</a:t>
            </a:r>
          </a:p>
        </p:txBody>
      </p:sp>
      <p:sp>
        <p:nvSpPr>
          <p:cNvPr id="36" name="TextBox 35"/>
          <p:cNvSpPr txBox="1"/>
          <p:nvPr/>
        </p:nvSpPr>
        <p:spPr>
          <a:xfrm>
            <a:off x="8540496" y="1856231"/>
            <a:ext cx="3008376" cy="429768"/>
          </a:xfrm>
          <a:prstGeom prst="rect">
            <a:avLst/>
          </a:prstGeom>
          <a:noFill/>
        </p:spPr>
        <p:txBody>
          <a:bodyPr wrap="square" lIns="50800" rIns="50800" tIns="25400" bIns="25400">
            <a:spAutoFit/>
          </a:bodyPr>
          <a:lstStyle/>
          <a:p>
            <a:pPr algn="l"/>
            <a:r>
              <a:rPr sz="1100" b="0">
                <a:solidFill>
                  <a:srgbClr val="243044"/>
                </a:solidFill>
                <a:latin typeface="Aptos"/>
              </a:rPr>
              <a:t>Pick one high-risk workflow</a:t>
            </a:r>
          </a:p>
        </p:txBody>
      </p:sp>
      <p:sp>
        <p:nvSpPr>
          <p:cNvPr id="37" name="TextBox 36"/>
          <p:cNvSpPr txBox="1"/>
          <p:nvPr/>
        </p:nvSpPr>
        <p:spPr>
          <a:xfrm>
            <a:off x="8348471" y="2359152"/>
            <a:ext cx="146304" cy="228600"/>
          </a:xfrm>
          <a:prstGeom prst="rect">
            <a:avLst/>
          </a:prstGeom>
          <a:noFill/>
        </p:spPr>
        <p:txBody>
          <a:bodyPr wrap="square" lIns="50800" rIns="50800" tIns="25400" bIns="25400">
            <a:spAutoFit/>
          </a:bodyPr>
          <a:lstStyle/>
          <a:p>
            <a:pPr algn="l"/>
            <a:r>
              <a:rPr sz="1500" b="1">
                <a:solidFill>
                  <a:srgbClr val="EE8D37"/>
                </a:solidFill>
                <a:latin typeface="Aptos"/>
              </a:rPr>
              <a:t>•</a:t>
            </a:r>
          </a:p>
        </p:txBody>
      </p:sp>
      <p:sp>
        <p:nvSpPr>
          <p:cNvPr id="38" name="TextBox 37"/>
          <p:cNvSpPr txBox="1"/>
          <p:nvPr/>
        </p:nvSpPr>
        <p:spPr>
          <a:xfrm>
            <a:off x="8540496" y="2359152"/>
            <a:ext cx="3008376" cy="429768"/>
          </a:xfrm>
          <a:prstGeom prst="rect">
            <a:avLst/>
          </a:prstGeom>
          <a:noFill/>
        </p:spPr>
        <p:txBody>
          <a:bodyPr wrap="square" lIns="50800" rIns="50800" tIns="25400" bIns="25400">
            <a:spAutoFit/>
          </a:bodyPr>
          <a:lstStyle/>
          <a:p>
            <a:pPr algn="l"/>
            <a:r>
              <a:rPr sz="1100" b="0">
                <a:solidFill>
                  <a:srgbClr val="243044"/>
                </a:solidFill>
                <a:latin typeface="Aptos"/>
              </a:rPr>
              <a:t>Define mandatory receipt fields with compliance</a:t>
            </a:r>
          </a:p>
        </p:txBody>
      </p:sp>
      <p:sp>
        <p:nvSpPr>
          <p:cNvPr id="39" name="TextBox 38"/>
          <p:cNvSpPr txBox="1"/>
          <p:nvPr/>
        </p:nvSpPr>
        <p:spPr>
          <a:xfrm>
            <a:off x="8348471" y="2862072"/>
            <a:ext cx="146304" cy="228600"/>
          </a:xfrm>
          <a:prstGeom prst="rect">
            <a:avLst/>
          </a:prstGeom>
          <a:noFill/>
        </p:spPr>
        <p:txBody>
          <a:bodyPr wrap="square" lIns="50800" rIns="50800" tIns="25400" bIns="25400">
            <a:spAutoFit/>
          </a:bodyPr>
          <a:lstStyle/>
          <a:p>
            <a:pPr algn="l"/>
            <a:r>
              <a:rPr sz="1500" b="1">
                <a:solidFill>
                  <a:srgbClr val="EE8D37"/>
                </a:solidFill>
                <a:latin typeface="Aptos"/>
              </a:rPr>
              <a:t>•</a:t>
            </a:r>
          </a:p>
        </p:txBody>
      </p:sp>
      <p:sp>
        <p:nvSpPr>
          <p:cNvPr id="40" name="TextBox 39"/>
          <p:cNvSpPr txBox="1"/>
          <p:nvPr/>
        </p:nvSpPr>
        <p:spPr>
          <a:xfrm>
            <a:off x="8540496" y="2862072"/>
            <a:ext cx="3008376" cy="429768"/>
          </a:xfrm>
          <a:prstGeom prst="rect">
            <a:avLst/>
          </a:prstGeom>
          <a:noFill/>
        </p:spPr>
        <p:txBody>
          <a:bodyPr wrap="square" lIns="50800" rIns="50800" tIns="25400" bIns="25400">
            <a:spAutoFit/>
          </a:bodyPr>
          <a:lstStyle/>
          <a:p>
            <a:pPr algn="l"/>
            <a:r>
              <a:rPr sz="1100" b="0">
                <a:solidFill>
                  <a:srgbClr val="243044"/>
                </a:solidFill>
                <a:latin typeface="Aptos"/>
              </a:rPr>
              <a:t>Integrate CooL at the deployment / order-event point</a:t>
            </a:r>
          </a:p>
        </p:txBody>
      </p:sp>
      <p:sp>
        <p:nvSpPr>
          <p:cNvPr id="41" name="TextBox 40"/>
          <p:cNvSpPr txBox="1"/>
          <p:nvPr/>
        </p:nvSpPr>
        <p:spPr>
          <a:xfrm>
            <a:off x="8348471" y="3364991"/>
            <a:ext cx="146304" cy="228600"/>
          </a:xfrm>
          <a:prstGeom prst="rect">
            <a:avLst/>
          </a:prstGeom>
          <a:noFill/>
        </p:spPr>
        <p:txBody>
          <a:bodyPr wrap="square" lIns="50800" rIns="50800" tIns="25400" bIns="25400">
            <a:spAutoFit/>
          </a:bodyPr>
          <a:lstStyle/>
          <a:p>
            <a:pPr algn="l"/>
            <a:r>
              <a:rPr sz="1500" b="1">
                <a:solidFill>
                  <a:srgbClr val="EE8D37"/>
                </a:solidFill>
                <a:latin typeface="Aptos"/>
              </a:rPr>
              <a:t>•</a:t>
            </a:r>
          </a:p>
        </p:txBody>
      </p:sp>
      <p:sp>
        <p:nvSpPr>
          <p:cNvPr id="42" name="TextBox 41"/>
          <p:cNvSpPr txBox="1"/>
          <p:nvPr/>
        </p:nvSpPr>
        <p:spPr>
          <a:xfrm>
            <a:off x="8540496" y="3364991"/>
            <a:ext cx="3008376" cy="429768"/>
          </a:xfrm>
          <a:prstGeom prst="rect">
            <a:avLst/>
          </a:prstGeom>
          <a:noFill/>
        </p:spPr>
        <p:txBody>
          <a:bodyPr wrap="square" lIns="50800" rIns="50800" tIns="25400" bIns="25400">
            <a:spAutoFit/>
          </a:bodyPr>
          <a:lstStyle/>
          <a:p>
            <a:pPr algn="l"/>
            <a:r>
              <a:rPr sz="1100" b="0">
                <a:solidFill>
                  <a:srgbClr val="243044"/>
                </a:solidFill>
                <a:latin typeface="Aptos"/>
              </a:rPr>
              <a:t>Generate a 90-day evidence pack</a:t>
            </a:r>
          </a:p>
        </p:txBody>
      </p:sp>
      <p:sp>
        <p:nvSpPr>
          <p:cNvPr id="43" name="TextBox 42"/>
          <p:cNvSpPr txBox="1"/>
          <p:nvPr/>
        </p:nvSpPr>
        <p:spPr>
          <a:xfrm>
            <a:off x="8348471" y="3867911"/>
            <a:ext cx="146304" cy="228600"/>
          </a:xfrm>
          <a:prstGeom prst="rect">
            <a:avLst/>
          </a:prstGeom>
          <a:noFill/>
        </p:spPr>
        <p:txBody>
          <a:bodyPr wrap="square" lIns="50800" rIns="50800" tIns="25400" bIns="25400">
            <a:spAutoFit/>
          </a:bodyPr>
          <a:lstStyle/>
          <a:p>
            <a:pPr algn="l"/>
            <a:r>
              <a:rPr sz="1500" b="1">
                <a:solidFill>
                  <a:srgbClr val="EE8D37"/>
                </a:solidFill>
                <a:latin typeface="Aptos"/>
              </a:rPr>
              <a:t>•</a:t>
            </a:r>
          </a:p>
        </p:txBody>
      </p:sp>
      <p:sp>
        <p:nvSpPr>
          <p:cNvPr id="44" name="TextBox 43"/>
          <p:cNvSpPr txBox="1"/>
          <p:nvPr/>
        </p:nvSpPr>
        <p:spPr>
          <a:xfrm>
            <a:off x="8540496" y="3867911"/>
            <a:ext cx="3008376" cy="429768"/>
          </a:xfrm>
          <a:prstGeom prst="rect">
            <a:avLst/>
          </a:prstGeom>
          <a:noFill/>
        </p:spPr>
        <p:txBody>
          <a:bodyPr wrap="square" lIns="50800" rIns="50800" tIns="25400" bIns="25400">
            <a:spAutoFit/>
          </a:bodyPr>
          <a:lstStyle/>
          <a:p>
            <a:pPr algn="l"/>
            <a:r>
              <a:rPr sz="1100" b="0">
                <a:solidFill>
                  <a:srgbClr val="243044"/>
                </a:solidFill>
                <a:latin typeface="Aptos"/>
              </a:rPr>
              <a:t>Run a mock audit with internal audit</a:t>
            </a:r>
          </a:p>
        </p:txBody>
      </p:sp>
      <p:sp>
        <p:nvSpPr>
          <p:cNvPr id="45" name="Rounded Rectangle 44"/>
          <p:cNvSpPr/>
          <p:nvPr/>
        </p:nvSpPr>
        <p:spPr>
          <a:xfrm>
            <a:off x="502920" y="5230368"/>
            <a:ext cx="11155680" cy="713232"/>
          </a:xfrm>
          <a:prstGeom prst="roundRect">
            <a:avLst/>
          </a:prstGeom>
          <a:solidFill>
            <a:srgbClr val="09152D"/>
          </a:solidFill>
          <a:ln>
            <a:solidFill>
              <a:srgbClr val="0915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86384" y="5449824"/>
            <a:ext cx="10561320" cy="256032"/>
          </a:xfrm>
          <a:prstGeom prst="rect">
            <a:avLst/>
          </a:prstGeom>
          <a:noFill/>
        </p:spPr>
        <p:txBody>
          <a:bodyPr wrap="square" lIns="50800" rIns="50800" tIns="25400" bIns="25400">
            <a:spAutoFit/>
          </a:bodyPr>
          <a:lstStyle/>
          <a:p>
            <a:pPr algn="ctr"/>
            <a:r>
              <a:rPr sz="1500" b="1">
                <a:solidFill>
                  <a:srgbClr val="FFFFFF"/>
                </a:solidFill>
                <a:latin typeface="Aptos"/>
              </a:rPr>
              <a:t>Success metric: An auditor can select a change or trading event and independently verify its evidence in minutes — instead of relying on weeks of reconstructed documentation.</a:t>
            </a:r>
          </a:p>
        </p:txBody>
      </p:sp>
      <p:sp>
        <p:nvSpPr>
          <p:cNvPr id="47" name="TextBox 46"/>
          <p:cNvSpPr txBox="1"/>
          <p:nvPr/>
        </p:nvSpPr>
        <p:spPr>
          <a:xfrm>
            <a:off x="411480" y="6492240"/>
            <a:ext cx="3840480" cy="182880"/>
          </a:xfrm>
          <a:prstGeom prst="rect">
            <a:avLst/>
          </a:prstGeom>
          <a:noFill/>
        </p:spPr>
        <p:txBody>
          <a:bodyPr wrap="square" lIns="50800" rIns="50800" tIns="25400" bIns="25400">
            <a:spAutoFit/>
          </a:bodyPr>
          <a:lstStyle/>
          <a:p>
            <a:pPr algn="l"/>
            <a:r>
              <a:rPr sz="800" b="0">
                <a:solidFill>
                  <a:srgbClr val="637184"/>
                </a:solidFill>
                <a:latin typeface="Aptos"/>
              </a:rPr>
              <a:t>CooL SDK • India BFSI concept</a:t>
            </a:r>
          </a:p>
        </p:txBody>
      </p:sp>
      <p:sp>
        <p:nvSpPr>
          <p:cNvPr id="48" name="TextBox 47"/>
          <p:cNvSpPr txBox="1"/>
          <p:nvPr/>
        </p:nvSpPr>
        <p:spPr>
          <a:xfrm>
            <a:off x="6400800" y="6492240"/>
            <a:ext cx="5349240" cy="182880"/>
          </a:xfrm>
          <a:prstGeom prst="rect">
            <a:avLst/>
          </a:prstGeom>
          <a:noFill/>
        </p:spPr>
        <p:txBody>
          <a:bodyPr wrap="square" lIns="50800" rIns="50800" tIns="25400" bIns="25400">
            <a:spAutoFit/>
          </a:bodyPr>
          <a:lstStyle/>
          <a:p>
            <a:pPr algn="r"/>
            <a:r>
              <a:rPr sz="700" b="0">
                <a:solidFill>
                  <a:srgbClr val="637184"/>
                </a:solidFill>
                <a:latin typeface="Aptos"/>
              </a:rPr>
              <a:t>Sources: RBI governance direction [web:74][web:120]; SEBI algo records [web:89][web:91]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